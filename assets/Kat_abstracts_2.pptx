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9" r:id="rId2"/>
  </p:sldMasterIdLst>
  <p:notesMasterIdLst>
    <p:notesMasterId r:id="rId17"/>
  </p:notesMasterIdLst>
  <p:sldIdLst>
    <p:sldId id="2749" r:id="rId3"/>
    <p:sldId id="2756" r:id="rId4"/>
    <p:sldId id="2750" r:id="rId5"/>
    <p:sldId id="2757" r:id="rId6"/>
    <p:sldId id="2759" r:id="rId7"/>
    <p:sldId id="2760" r:id="rId8"/>
    <p:sldId id="2761" r:id="rId9"/>
    <p:sldId id="2762" r:id="rId10"/>
    <p:sldId id="2758" r:id="rId11"/>
    <p:sldId id="2763" r:id="rId12"/>
    <p:sldId id="2764" r:id="rId13"/>
    <p:sldId id="2754" r:id="rId14"/>
    <p:sldId id="2766" r:id="rId15"/>
    <p:sldId id="2742"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5D9D97-4954-1CD2-87D9-6586227ACD3A}" name="Espinoza, Sara" initials="SE" userId="S::Sara.Espinoza@dechema.de::5dd0eefa-721f-45b2-9a57-2c40bb546ed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spinoza, Sara" initials="ES" lastIdx="1" clrIdx="0">
    <p:extLst>
      <p:ext uri="{19B8F6BF-5375-455C-9EA6-DF929625EA0E}">
        <p15:presenceInfo xmlns:p15="http://schemas.microsoft.com/office/powerpoint/2012/main" userId="S::sara.espinoza@dechema.de::5dd0eefa-721f-45b2-9a57-2c40bb546ed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992"/>
    <a:srgbClr val="D54A00"/>
    <a:srgbClr val="B5D57B"/>
    <a:srgbClr val="6FA3E8"/>
    <a:srgbClr val="92D050"/>
    <a:srgbClr val="62B4CA"/>
    <a:srgbClr val="5C7957"/>
    <a:srgbClr val="EBF3F6"/>
    <a:srgbClr val="225982"/>
    <a:srgbClr val="007C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88" autoAdjust="0"/>
    <p:restoredTop sz="89442" autoAdjust="0"/>
  </p:normalViewPr>
  <p:slideViewPr>
    <p:cSldViewPr>
      <p:cViewPr>
        <p:scale>
          <a:sx n="100" d="100"/>
          <a:sy n="100" d="100"/>
        </p:scale>
        <p:origin x="966" y="102"/>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F2846-93B7-4AE9-9E66-9A4394AFC98D}" type="datetimeFigureOut">
              <a:rPr lang="en-US" smtClean="0"/>
              <a:pPr/>
              <a:t>10/29/2025</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AD21FA-2E42-4D46-8F0E-B6844AF62F0C}" type="slidenum">
              <a:rPr lang="en-US" smtClean="0"/>
              <a:pPr/>
              <a:t>‹Nr.›</a:t>
            </a:fld>
            <a:endParaRPr lang="en-US"/>
          </a:p>
        </p:txBody>
      </p:sp>
    </p:spTree>
    <p:extLst>
      <p:ext uri="{BB962C8B-B14F-4D97-AF65-F5344CB8AC3E}">
        <p14:creationId xmlns:p14="http://schemas.microsoft.com/office/powerpoint/2010/main" val="3889555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GB" b="1" dirty="0"/>
              <a:t>Speaker: </a:t>
            </a:r>
            <a:r>
              <a:rPr lang="en-GB" sz="1300" b="1" dirty="0">
                <a:solidFill>
                  <a:srgbClr val="31698D"/>
                </a:solidFill>
              </a:rPr>
              <a:t>Andreas</a:t>
            </a:r>
            <a:r>
              <a:rPr lang="en-GB" b="1" dirty="0"/>
              <a:t> </a:t>
            </a:r>
          </a:p>
          <a:p>
            <a:pPr defTabSz="990478">
              <a:defRPr/>
            </a:pPr>
            <a:r>
              <a:rPr lang="en-GB" dirty="0"/>
              <a:t>Welcome</a:t>
            </a:r>
          </a:p>
          <a:p>
            <a:endParaRPr lang="en-GB" dirty="0"/>
          </a:p>
        </p:txBody>
      </p:sp>
      <p:sp>
        <p:nvSpPr>
          <p:cNvPr id="4" name="Slide Number Placeholder 3"/>
          <p:cNvSpPr>
            <a:spLocks noGrp="1"/>
          </p:cNvSpPr>
          <p:nvPr>
            <p:ph type="sldNum" sz="quarter" idx="5"/>
          </p:nvPr>
        </p:nvSpPr>
        <p:spPr/>
        <p:txBody>
          <a:bodyPr/>
          <a:lstStyle/>
          <a:p>
            <a:fld id="{67AD21FA-2E42-4D46-8F0E-B6844AF62F0C}" type="slidenum">
              <a:rPr lang="en-US" smtClean="0"/>
              <a:pPr/>
              <a:t>1</a:t>
            </a:fld>
            <a:endParaRPr lang="en-US"/>
          </a:p>
        </p:txBody>
      </p:sp>
    </p:spTree>
    <p:extLst>
      <p:ext uri="{BB962C8B-B14F-4D97-AF65-F5344CB8AC3E}">
        <p14:creationId xmlns:p14="http://schemas.microsoft.com/office/powerpoint/2010/main" val="2485619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endParaRPr lang="en-GB" dirty="0"/>
          </a:p>
        </p:txBody>
      </p:sp>
      <p:sp>
        <p:nvSpPr>
          <p:cNvPr id="4" name="Slide Number Placeholder 3"/>
          <p:cNvSpPr>
            <a:spLocks noGrp="1"/>
          </p:cNvSpPr>
          <p:nvPr>
            <p:ph type="sldNum" sz="quarter" idx="5"/>
          </p:nvPr>
        </p:nvSpPr>
        <p:spPr/>
        <p:txBody>
          <a:bodyPr/>
          <a:lstStyle/>
          <a:p>
            <a:fld id="{67AD21FA-2E42-4D46-8F0E-B6844AF62F0C}" type="slidenum">
              <a:rPr lang="en-US" smtClean="0"/>
              <a:pPr/>
              <a:t>3</a:t>
            </a:fld>
            <a:endParaRPr lang="en-US"/>
          </a:p>
        </p:txBody>
      </p:sp>
    </p:spTree>
    <p:extLst>
      <p:ext uri="{BB962C8B-B14F-4D97-AF65-F5344CB8AC3E}">
        <p14:creationId xmlns:p14="http://schemas.microsoft.com/office/powerpoint/2010/main" val="2310729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original_Einfache Inhalt">
    <p:spTree>
      <p:nvGrpSpPr>
        <p:cNvPr id="1" name=""/>
        <p:cNvGrpSpPr/>
        <p:nvPr/>
      </p:nvGrpSpPr>
      <p:grpSpPr>
        <a:xfrm>
          <a:off x="0" y="0"/>
          <a:ext cx="0" cy="0"/>
          <a:chOff x="0" y="0"/>
          <a:chExt cx="0" cy="0"/>
        </a:xfrm>
      </p:grpSpPr>
      <p:sp>
        <p:nvSpPr>
          <p:cNvPr id="2" name="Titel 1"/>
          <p:cNvSpPr>
            <a:spLocks noGrp="1"/>
          </p:cNvSpPr>
          <p:nvPr>
            <p:ph type="title"/>
          </p:nvPr>
        </p:nvSpPr>
        <p:spPr>
          <a:xfrm>
            <a:off x="846000" y="180000"/>
            <a:ext cx="10501200" cy="720000"/>
          </a:xfrm>
          <a:prstGeom prst="rect">
            <a:avLst/>
          </a:prstGeom>
        </p:spPr>
        <p:txBody>
          <a:bodyPr/>
          <a:lstStyle>
            <a:lvl1pPr algn="l">
              <a:defRPr/>
            </a:lvl1pPr>
          </a:lstStyle>
          <a:p>
            <a:r>
              <a:rPr lang="de-DE"/>
              <a:t>Mastertitelformat bearbeiten</a:t>
            </a:r>
            <a:endParaRPr lang="en-GB" dirty="0"/>
          </a:p>
        </p:txBody>
      </p:sp>
      <p:sp>
        <p:nvSpPr>
          <p:cNvPr id="3" name="Inhaltsplatzhalter 2"/>
          <p:cNvSpPr>
            <a:spLocks noGrp="1"/>
          </p:cNvSpPr>
          <p:nvPr>
            <p:ph idx="1" hasCustomPrompt="1"/>
          </p:nvPr>
        </p:nvSpPr>
        <p:spPr>
          <a:xfrm>
            <a:off x="847885" y="1286165"/>
            <a:ext cx="10972800" cy="4519099"/>
          </a:xfrm>
          <a:prstGeom prst="rect">
            <a:avLst/>
          </a:prstGeom>
        </p:spPr>
        <p:txBody>
          <a:bodyPr/>
          <a:lstStyle>
            <a:lvl1pPr marL="342900" indent="-342900">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9" name="Flussdiagramm: Prozess 8">
            <a:extLst>
              <a:ext uri="{FF2B5EF4-FFF2-40B4-BE49-F238E27FC236}">
                <a16:creationId xmlns:a16="http://schemas.microsoft.com/office/drawing/2014/main" id="{D4BF366F-78D0-4C01-8690-19EDB38941D0}"/>
              </a:ext>
            </a:extLst>
          </p:cNvPr>
          <p:cNvSpPr/>
          <p:nvPr userDrawn="1"/>
        </p:nvSpPr>
        <p:spPr>
          <a:xfrm>
            <a:off x="0" y="1052736"/>
            <a:ext cx="12178800" cy="72008"/>
          </a:xfrm>
          <a:prstGeom prst="flowChartProcess">
            <a:avLst/>
          </a:prstGeom>
          <a:solidFill>
            <a:srgbClr val="90C73E"/>
          </a:solidFill>
          <a:ln>
            <a:solidFill>
              <a:srgbClr val="90C7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5877272"/>
            <a:ext cx="12178800" cy="72008"/>
          </a:xfrm>
          <a:prstGeom prst="flowChartProcess">
            <a:avLst/>
          </a:prstGeom>
          <a:solidFill>
            <a:srgbClr val="006992"/>
          </a:solidFill>
          <a:ln>
            <a:solidFill>
              <a:srgbClr val="006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fik 11" descr="Ein Bild, das Text enthält.&#10;&#10;Automatisch generierte Beschreibung">
            <a:extLst>
              <a:ext uri="{FF2B5EF4-FFF2-40B4-BE49-F238E27FC236}">
                <a16:creationId xmlns:a16="http://schemas.microsoft.com/office/drawing/2014/main" id="{FA2A1844-E910-4367-8D6E-ACCF89BF7370}"/>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3535"/>
          <a:stretch/>
        </p:blipFill>
        <p:spPr>
          <a:xfrm>
            <a:off x="5709839" y="6110701"/>
            <a:ext cx="1719297" cy="747299"/>
          </a:xfrm>
          <a:prstGeom prst="rect">
            <a:avLst/>
          </a:prstGeom>
        </p:spPr>
      </p:pic>
      <p:sp>
        <p:nvSpPr>
          <p:cNvPr id="14" name="Textfeld 13">
            <a:extLst>
              <a:ext uri="{FF2B5EF4-FFF2-40B4-BE49-F238E27FC236}">
                <a16:creationId xmlns:a16="http://schemas.microsoft.com/office/drawing/2014/main" id="{56CB4B2C-570B-4568-AED8-BEA42DD0406F}"/>
              </a:ext>
            </a:extLst>
          </p:cNvPr>
          <p:cNvSpPr txBox="1"/>
          <p:nvPr userDrawn="1"/>
        </p:nvSpPr>
        <p:spPr>
          <a:xfrm>
            <a:off x="609600" y="6315073"/>
            <a:ext cx="4032448" cy="338554"/>
          </a:xfrm>
          <a:prstGeom prst="rect">
            <a:avLst/>
          </a:prstGeom>
          <a:noFill/>
        </p:spPr>
        <p:txBody>
          <a:bodyPr wrap="square" rtlCol="0">
            <a:spAutoFit/>
          </a:bodyPr>
          <a:lstStyle/>
          <a:p>
            <a:r>
              <a:rPr lang="en-GB" sz="1600" kern="1200" dirty="0">
                <a:solidFill>
                  <a:srgbClr val="006992"/>
                </a:solidFill>
                <a:latin typeface="+mn-lt"/>
                <a:ea typeface="+mn-ea"/>
                <a:cs typeface="+mn-cs"/>
              </a:rPr>
              <a:t>http://www.nfdi4cat.org/</a:t>
            </a:r>
          </a:p>
        </p:txBody>
      </p:sp>
    </p:spTree>
    <p:extLst>
      <p:ext uri="{BB962C8B-B14F-4D97-AF65-F5344CB8AC3E}">
        <p14:creationId xmlns:p14="http://schemas.microsoft.com/office/powerpoint/2010/main" val="254409500"/>
      </p:ext>
    </p:extLst>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original_Doppelt Inhalt">
    <p:spTree>
      <p:nvGrpSpPr>
        <p:cNvPr id="1" name=""/>
        <p:cNvGrpSpPr/>
        <p:nvPr/>
      </p:nvGrpSpPr>
      <p:grpSpPr>
        <a:xfrm>
          <a:off x="0" y="0"/>
          <a:ext cx="0" cy="0"/>
          <a:chOff x="0" y="0"/>
          <a:chExt cx="0" cy="0"/>
        </a:xfrm>
      </p:grpSpPr>
      <p:sp>
        <p:nvSpPr>
          <p:cNvPr id="2" name="Titel 1"/>
          <p:cNvSpPr>
            <a:spLocks noGrp="1"/>
          </p:cNvSpPr>
          <p:nvPr>
            <p:ph type="title"/>
          </p:nvPr>
        </p:nvSpPr>
        <p:spPr>
          <a:xfrm>
            <a:off x="846000" y="180000"/>
            <a:ext cx="10501200" cy="720000"/>
          </a:xfrm>
          <a:prstGeom prst="rect">
            <a:avLst/>
          </a:prstGeom>
        </p:spPr>
        <p:txBody>
          <a:bodyPr/>
          <a:lstStyle>
            <a:lvl1pPr algn="l">
              <a:defRPr/>
            </a:lvl1pPr>
          </a:lstStyle>
          <a:p>
            <a:r>
              <a:rPr lang="de-DE"/>
              <a:t>Mastertitelformat bearbeiten</a:t>
            </a:r>
            <a:endParaRPr lang="en-GB" dirty="0"/>
          </a:p>
        </p:txBody>
      </p:sp>
      <p:sp>
        <p:nvSpPr>
          <p:cNvPr id="3" name="Inhaltsplatzhalter 2"/>
          <p:cNvSpPr>
            <a:spLocks noGrp="1"/>
          </p:cNvSpPr>
          <p:nvPr>
            <p:ph idx="1" hasCustomPrompt="1"/>
          </p:nvPr>
        </p:nvSpPr>
        <p:spPr>
          <a:xfrm>
            <a:off x="847885" y="1286165"/>
            <a:ext cx="10972800" cy="2142835"/>
          </a:xfrm>
          <a:prstGeom prst="rect">
            <a:avLst/>
          </a:prstGeom>
        </p:spPr>
        <p:txBody>
          <a:bodyPr/>
          <a:lstStyle>
            <a:lvl1pPr marL="342900" indent="-342900">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9" name="Flussdiagramm: Prozess 8">
            <a:extLst>
              <a:ext uri="{FF2B5EF4-FFF2-40B4-BE49-F238E27FC236}">
                <a16:creationId xmlns:a16="http://schemas.microsoft.com/office/drawing/2014/main" id="{D4BF366F-78D0-4C01-8690-19EDB38941D0}"/>
              </a:ext>
            </a:extLst>
          </p:cNvPr>
          <p:cNvSpPr/>
          <p:nvPr userDrawn="1"/>
        </p:nvSpPr>
        <p:spPr>
          <a:xfrm>
            <a:off x="0" y="1052736"/>
            <a:ext cx="12178800" cy="72008"/>
          </a:xfrm>
          <a:prstGeom prst="flowChartProcess">
            <a:avLst/>
          </a:prstGeom>
          <a:solidFill>
            <a:srgbClr val="90C73E"/>
          </a:solidFill>
          <a:ln>
            <a:solidFill>
              <a:srgbClr val="90C7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5877272"/>
            <a:ext cx="12178800" cy="72008"/>
          </a:xfrm>
          <a:prstGeom prst="flowChartProcess">
            <a:avLst/>
          </a:prstGeom>
          <a:solidFill>
            <a:srgbClr val="006992"/>
          </a:solidFill>
          <a:ln>
            <a:solidFill>
              <a:srgbClr val="006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fik 11" descr="Ein Bild, das Text enthält.&#10;&#10;Automatisch generierte Beschreibung">
            <a:extLst>
              <a:ext uri="{FF2B5EF4-FFF2-40B4-BE49-F238E27FC236}">
                <a16:creationId xmlns:a16="http://schemas.microsoft.com/office/drawing/2014/main" id="{FA2A1844-E910-4367-8D6E-ACCF89BF7370}"/>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3535"/>
          <a:stretch/>
        </p:blipFill>
        <p:spPr>
          <a:xfrm>
            <a:off x="5709839" y="6110701"/>
            <a:ext cx="1719297" cy="747299"/>
          </a:xfrm>
          <a:prstGeom prst="rect">
            <a:avLst/>
          </a:prstGeom>
        </p:spPr>
      </p:pic>
      <p:sp>
        <p:nvSpPr>
          <p:cNvPr id="13" name="Inhaltsplatzhalter 2">
            <a:extLst>
              <a:ext uri="{FF2B5EF4-FFF2-40B4-BE49-F238E27FC236}">
                <a16:creationId xmlns:a16="http://schemas.microsoft.com/office/drawing/2014/main" id="{07742CB9-6A70-47EC-BE24-9A5D27928AA6}"/>
              </a:ext>
            </a:extLst>
          </p:cNvPr>
          <p:cNvSpPr>
            <a:spLocks noGrp="1"/>
          </p:cNvSpPr>
          <p:nvPr>
            <p:ph idx="10" hasCustomPrompt="1"/>
          </p:nvPr>
        </p:nvSpPr>
        <p:spPr>
          <a:xfrm>
            <a:off x="847885" y="3662719"/>
            <a:ext cx="10972800" cy="2142835"/>
          </a:xfrm>
          <a:prstGeom prst="rect">
            <a:avLst/>
          </a:prstGeom>
        </p:spPr>
        <p:txBody>
          <a:bodyPr/>
          <a:lstStyle>
            <a:lvl1pPr marL="342900" indent="-342900">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4" name="Textfeld 13">
            <a:extLst>
              <a:ext uri="{FF2B5EF4-FFF2-40B4-BE49-F238E27FC236}">
                <a16:creationId xmlns:a16="http://schemas.microsoft.com/office/drawing/2014/main" id="{56CB4B2C-570B-4568-AED8-BEA42DD0406F}"/>
              </a:ext>
            </a:extLst>
          </p:cNvPr>
          <p:cNvSpPr txBox="1"/>
          <p:nvPr userDrawn="1"/>
        </p:nvSpPr>
        <p:spPr>
          <a:xfrm>
            <a:off x="609600" y="6315073"/>
            <a:ext cx="4032448" cy="338554"/>
          </a:xfrm>
          <a:prstGeom prst="rect">
            <a:avLst/>
          </a:prstGeom>
          <a:noFill/>
        </p:spPr>
        <p:txBody>
          <a:bodyPr wrap="square" rtlCol="0">
            <a:spAutoFit/>
          </a:bodyPr>
          <a:lstStyle/>
          <a:p>
            <a:r>
              <a:rPr lang="en-GB" sz="1600" kern="1200" dirty="0">
                <a:solidFill>
                  <a:srgbClr val="006992"/>
                </a:solidFill>
                <a:latin typeface="+mn-lt"/>
                <a:ea typeface="+mn-ea"/>
                <a:cs typeface="+mn-cs"/>
              </a:rPr>
              <a:t>http://www.nfdi4cat.org/</a:t>
            </a:r>
          </a:p>
        </p:txBody>
      </p:sp>
    </p:spTree>
    <p:extLst>
      <p:ext uri="{BB962C8B-B14F-4D97-AF65-F5344CB8AC3E}">
        <p14:creationId xmlns:p14="http://schemas.microsoft.com/office/powerpoint/2010/main" val="1792948314"/>
      </p:ext>
    </p:extLst>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new_Einfache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76752"/>
            <a:ext cx="9218240" cy="720000"/>
          </a:xfrm>
          <a:prstGeom prst="rect">
            <a:avLst/>
          </a:prstGeom>
        </p:spPr>
        <p:txBody>
          <a:bodyPr>
            <a:normAutofit/>
          </a:bodyPr>
          <a:lstStyle>
            <a:lvl1pPr algn="l">
              <a:defRPr sz="4000"/>
            </a:lvl1pPr>
          </a:lstStyle>
          <a:p>
            <a:r>
              <a:rPr lang="de-DE"/>
              <a:t>Mastertitelformat bearbeiten</a:t>
            </a:r>
            <a:endParaRPr lang="en-GB" dirty="0"/>
          </a:p>
        </p:txBody>
      </p:sp>
      <p:sp>
        <p:nvSpPr>
          <p:cNvPr id="3" name="Inhaltsplatzhalter 2"/>
          <p:cNvSpPr>
            <a:spLocks noGrp="1"/>
          </p:cNvSpPr>
          <p:nvPr>
            <p:ph idx="1" hasCustomPrompt="1"/>
          </p:nvPr>
        </p:nvSpPr>
        <p:spPr>
          <a:xfrm>
            <a:off x="838200" y="1286165"/>
            <a:ext cx="10514384" cy="4525963"/>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6244176"/>
            <a:ext cx="12192000" cy="65144"/>
          </a:xfrm>
          <a:prstGeom prst="flowChartProcess">
            <a:avLst/>
          </a:prstGeom>
          <a:gradFill flip="none" rotWithShape="1">
            <a:gsLst>
              <a:gs pos="0">
                <a:srgbClr val="90C73E"/>
              </a:gs>
              <a:gs pos="100000">
                <a:srgbClr val="00699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descr="Ein Bild, das Text enthält.&#10;&#10;Automatisch generierte Beschreibung">
            <a:extLst>
              <a:ext uri="{FF2B5EF4-FFF2-40B4-BE49-F238E27FC236}">
                <a16:creationId xmlns:a16="http://schemas.microsoft.com/office/drawing/2014/main" id="{38DF2B75-222D-42A3-BEFD-B838720E2DC5}"/>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3535"/>
          <a:stretch/>
        </p:blipFill>
        <p:spPr>
          <a:xfrm>
            <a:off x="10134461" y="116632"/>
            <a:ext cx="1719297" cy="747299"/>
          </a:xfrm>
          <a:prstGeom prst="rect">
            <a:avLst/>
          </a:prstGeom>
        </p:spPr>
      </p:pic>
      <p:sp>
        <p:nvSpPr>
          <p:cNvPr id="14" name="Datumsplatzhalter 14">
            <a:extLst>
              <a:ext uri="{FF2B5EF4-FFF2-40B4-BE49-F238E27FC236}">
                <a16:creationId xmlns:a16="http://schemas.microsoft.com/office/drawing/2014/main" id="{B4514DBE-6C5B-4580-8AF1-80C38BC2B917}"/>
              </a:ext>
            </a:extLst>
          </p:cNvPr>
          <p:cNvSpPr>
            <a:spLocks noGrp="1"/>
          </p:cNvSpPr>
          <p:nvPr>
            <p:ph type="dt" sz="half" idx="2"/>
          </p:nvPr>
        </p:nvSpPr>
        <p:spPr>
          <a:xfrm>
            <a:off x="838200" y="6309320"/>
            <a:ext cx="2743200" cy="365125"/>
          </a:xfrm>
          <a:prstGeom prst="rect">
            <a:avLst/>
          </a:prstGeom>
        </p:spPr>
        <p:txBody>
          <a:bodyPr vert="horz" lIns="91440" tIns="45720" rIns="91440" bIns="45720" rtlCol="0" anchor="ctr"/>
          <a:lstStyle>
            <a:lvl1pPr algn="l">
              <a:defRPr sz="1200">
                <a:solidFill>
                  <a:srgbClr val="90C73E"/>
                </a:solidFill>
              </a:defRPr>
            </a:lvl1pPr>
          </a:lstStyle>
          <a:p>
            <a:fld id="{0C8BB6C9-DF8E-473B-ADAD-9D871ADAC294}" type="datetime1">
              <a:rPr lang="de-DE" smtClean="0"/>
              <a:t>29.10.2025</a:t>
            </a:fld>
            <a:endParaRPr lang="de-DE" dirty="0"/>
          </a:p>
        </p:txBody>
      </p:sp>
    </p:spTree>
  </p:cSld>
  <p:clrMapOvr>
    <a:masterClrMapping/>
  </p:clrMapOvr>
  <p:transition spd="med">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new_dopelt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76752"/>
            <a:ext cx="9218240" cy="720000"/>
          </a:xfrm>
          <a:prstGeom prst="rect">
            <a:avLst/>
          </a:prstGeom>
        </p:spPr>
        <p:txBody>
          <a:bodyPr>
            <a:normAutofit/>
          </a:bodyPr>
          <a:lstStyle>
            <a:lvl1pPr algn="l">
              <a:defRPr sz="4000"/>
            </a:lvl1pPr>
          </a:lstStyle>
          <a:p>
            <a:r>
              <a:rPr lang="de-DE"/>
              <a:t>Mastertitelformat bearbeiten</a:t>
            </a:r>
            <a:endParaRPr lang="en-GB" dirty="0"/>
          </a:p>
        </p:txBody>
      </p:sp>
      <p:sp>
        <p:nvSpPr>
          <p:cNvPr id="3" name="Inhaltsplatzhalter 2"/>
          <p:cNvSpPr>
            <a:spLocks noGrp="1"/>
          </p:cNvSpPr>
          <p:nvPr>
            <p:ph idx="1" hasCustomPrompt="1"/>
          </p:nvPr>
        </p:nvSpPr>
        <p:spPr>
          <a:xfrm>
            <a:off x="838200" y="1286165"/>
            <a:ext cx="10514384" cy="2142835"/>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6244176"/>
            <a:ext cx="12192000" cy="65144"/>
          </a:xfrm>
          <a:prstGeom prst="flowChartProcess">
            <a:avLst/>
          </a:prstGeom>
          <a:gradFill flip="none" rotWithShape="1">
            <a:gsLst>
              <a:gs pos="0">
                <a:srgbClr val="90C73E"/>
              </a:gs>
              <a:gs pos="100000">
                <a:srgbClr val="00699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descr="Ein Bild, das Text enthält.&#10;&#10;Automatisch generierte Beschreibung">
            <a:extLst>
              <a:ext uri="{FF2B5EF4-FFF2-40B4-BE49-F238E27FC236}">
                <a16:creationId xmlns:a16="http://schemas.microsoft.com/office/drawing/2014/main" id="{38DF2B75-222D-42A3-BEFD-B838720E2DC5}"/>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3535"/>
          <a:stretch/>
        </p:blipFill>
        <p:spPr>
          <a:xfrm>
            <a:off x="10134461" y="116632"/>
            <a:ext cx="1719297" cy="747299"/>
          </a:xfrm>
          <a:prstGeom prst="rect">
            <a:avLst/>
          </a:prstGeom>
        </p:spPr>
      </p:pic>
      <p:sp>
        <p:nvSpPr>
          <p:cNvPr id="14" name="Datumsplatzhalter 14">
            <a:extLst>
              <a:ext uri="{FF2B5EF4-FFF2-40B4-BE49-F238E27FC236}">
                <a16:creationId xmlns:a16="http://schemas.microsoft.com/office/drawing/2014/main" id="{B4514DBE-6C5B-4580-8AF1-80C38BC2B917}"/>
              </a:ext>
            </a:extLst>
          </p:cNvPr>
          <p:cNvSpPr>
            <a:spLocks noGrp="1"/>
          </p:cNvSpPr>
          <p:nvPr>
            <p:ph type="dt" sz="half" idx="2"/>
          </p:nvPr>
        </p:nvSpPr>
        <p:spPr>
          <a:xfrm>
            <a:off x="838200" y="6309320"/>
            <a:ext cx="2743200" cy="365125"/>
          </a:xfrm>
          <a:prstGeom prst="rect">
            <a:avLst/>
          </a:prstGeom>
        </p:spPr>
        <p:txBody>
          <a:bodyPr vert="horz" lIns="91440" tIns="45720" rIns="91440" bIns="45720" rtlCol="0" anchor="ctr"/>
          <a:lstStyle>
            <a:lvl1pPr algn="l">
              <a:defRPr sz="1200">
                <a:solidFill>
                  <a:srgbClr val="90C73E"/>
                </a:solidFill>
              </a:defRPr>
            </a:lvl1pPr>
          </a:lstStyle>
          <a:p>
            <a:fld id="{43A9BB54-507C-44D7-9797-632BC2BE55E4}" type="datetime1">
              <a:rPr lang="de-DE" smtClean="0"/>
              <a:t>29.10.2025</a:t>
            </a:fld>
            <a:endParaRPr lang="de-DE" dirty="0"/>
          </a:p>
        </p:txBody>
      </p:sp>
      <p:sp>
        <p:nvSpPr>
          <p:cNvPr id="7" name="Inhaltsplatzhalter 2">
            <a:extLst>
              <a:ext uri="{FF2B5EF4-FFF2-40B4-BE49-F238E27FC236}">
                <a16:creationId xmlns:a16="http://schemas.microsoft.com/office/drawing/2014/main" id="{6F22930D-7D5A-4B23-80B8-7FC36AD71099}"/>
              </a:ext>
            </a:extLst>
          </p:cNvPr>
          <p:cNvSpPr>
            <a:spLocks noGrp="1"/>
          </p:cNvSpPr>
          <p:nvPr>
            <p:ph idx="10" hasCustomPrompt="1"/>
          </p:nvPr>
        </p:nvSpPr>
        <p:spPr>
          <a:xfrm>
            <a:off x="836313" y="3679107"/>
            <a:ext cx="10514385" cy="2142835"/>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Tree>
    <p:extLst>
      <p:ext uri="{BB962C8B-B14F-4D97-AF65-F5344CB8AC3E}">
        <p14:creationId xmlns:p14="http://schemas.microsoft.com/office/powerpoint/2010/main" val="3974080778"/>
      </p:ext>
    </p:extLst>
  </p:cSld>
  <p:clrMapOvr>
    <a:masterClrMapping/>
  </p:clrMapOvr>
  <p:transition spd="med">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Übergang_Blue">
    <p:spTree>
      <p:nvGrpSpPr>
        <p:cNvPr id="1" name=""/>
        <p:cNvGrpSpPr/>
        <p:nvPr/>
      </p:nvGrpSpPr>
      <p:grpSpPr>
        <a:xfrm>
          <a:off x="0" y="0"/>
          <a:ext cx="0" cy="0"/>
          <a:chOff x="0" y="0"/>
          <a:chExt cx="0" cy="0"/>
        </a:xfrm>
      </p:grpSpPr>
      <p:sp>
        <p:nvSpPr>
          <p:cNvPr id="7" name="Flussdiagramm: Prozess 6">
            <a:extLst>
              <a:ext uri="{FF2B5EF4-FFF2-40B4-BE49-F238E27FC236}">
                <a16:creationId xmlns:a16="http://schemas.microsoft.com/office/drawing/2014/main" id="{EB5BFC0D-DACA-42CD-92F1-5741FB16A8CD}"/>
              </a:ext>
            </a:extLst>
          </p:cNvPr>
          <p:cNvSpPr/>
          <p:nvPr userDrawn="1"/>
        </p:nvSpPr>
        <p:spPr>
          <a:xfrm rot="16200000">
            <a:off x="2667002" y="-2667001"/>
            <a:ext cx="6858000" cy="12192001"/>
          </a:xfrm>
          <a:prstGeom prst="flowChartProcess">
            <a:avLst/>
          </a:prstGeom>
          <a:solidFill>
            <a:srgbClr val="006992"/>
          </a:solidFill>
          <a:ln>
            <a:solidFill>
              <a:srgbClr val="006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8" name="Inhaltsplatzhalter 2">
            <a:extLst>
              <a:ext uri="{FF2B5EF4-FFF2-40B4-BE49-F238E27FC236}">
                <a16:creationId xmlns:a16="http://schemas.microsoft.com/office/drawing/2014/main" id="{193A1A64-3DDB-4B98-BF2C-E4A12BFB6F4B}"/>
              </a:ext>
            </a:extLst>
          </p:cNvPr>
          <p:cNvSpPr>
            <a:spLocks noGrp="1"/>
          </p:cNvSpPr>
          <p:nvPr>
            <p:ph idx="1" hasCustomPrompt="1"/>
          </p:nvPr>
        </p:nvSpPr>
        <p:spPr>
          <a:xfrm>
            <a:off x="845400" y="3878453"/>
            <a:ext cx="10501200" cy="2142835"/>
          </a:xfrm>
          <a:prstGeom prst="rect">
            <a:avLst/>
          </a:prstGeom>
        </p:spPr>
        <p:txBody>
          <a:bodyPr/>
          <a:lstStyle>
            <a:lvl1pPr marL="0" indent="0" algn="ctr">
              <a:buClr>
                <a:srgbClr val="225982"/>
              </a:buClr>
              <a:buFont typeface="Wingdings" panose="05000000000000000000" pitchFamily="2" charset="2"/>
              <a:buNone/>
              <a:defRPr lang="de-DE" sz="2800" kern="1200" dirty="0">
                <a:solidFill>
                  <a:schemeClr val="bg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p:txBody>
      </p:sp>
      <p:sp>
        <p:nvSpPr>
          <p:cNvPr id="6" name="Titel 1">
            <a:extLst>
              <a:ext uri="{FF2B5EF4-FFF2-40B4-BE49-F238E27FC236}">
                <a16:creationId xmlns:a16="http://schemas.microsoft.com/office/drawing/2014/main" id="{92D990CD-8478-4B72-9C0F-72B9B0FF9766}"/>
              </a:ext>
            </a:extLst>
          </p:cNvPr>
          <p:cNvSpPr>
            <a:spLocks noGrp="1"/>
          </p:cNvSpPr>
          <p:nvPr>
            <p:ph type="title"/>
          </p:nvPr>
        </p:nvSpPr>
        <p:spPr>
          <a:xfrm>
            <a:off x="845400" y="2078333"/>
            <a:ext cx="10501200" cy="720000"/>
          </a:xfrm>
          <a:prstGeom prst="rect">
            <a:avLst/>
          </a:prstGeom>
        </p:spPr>
        <p:txBody>
          <a:bodyPr/>
          <a:lstStyle>
            <a:lvl1pPr algn="l">
              <a:defRPr b="1">
                <a:solidFill>
                  <a:schemeClr val="bg1"/>
                </a:solidFill>
              </a:defRPr>
            </a:lvl1pPr>
          </a:lstStyle>
          <a:p>
            <a:r>
              <a:rPr lang="de-DE"/>
              <a:t>Mastertitelformat bearbeiten</a:t>
            </a:r>
            <a:endParaRPr lang="en-GB" dirty="0"/>
          </a:p>
        </p:txBody>
      </p:sp>
      <p:sp>
        <p:nvSpPr>
          <p:cNvPr id="9" name="Flussdiagramm: Prozess 8">
            <a:extLst>
              <a:ext uri="{FF2B5EF4-FFF2-40B4-BE49-F238E27FC236}">
                <a16:creationId xmlns:a16="http://schemas.microsoft.com/office/drawing/2014/main" id="{B2A46AB6-DB48-4DCA-849C-375625503ED4}"/>
              </a:ext>
            </a:extLst>
          </p:cNvPr>
          <p:cNvSpPr/>
          <p:nvPr userDrawn="1"/>
        </p:nvSpPr>
        <p:spPr>
          <a:xfrm>
            <a:off x="3935760" y="3406141"/>
            <a:ext cx="4320481" cy="45719"/>
          </a:xfrm>
          <a:prstGeom prst="flowChartProcess">
            <a:avLst/>
          </a:prstGeom>
          <a:solidFill>
            <a:srgbClr val="90C73E"/>
          </a:solidFill>
          <a:ln>
            <a:solidFill>
              <a:srgbClr val="90C7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Übergang_Green">
    <p:spTree>
      <p:nvGrpSpPr>
        <p:cNvPr id="1" name=""/>
        <p:cNvGrpSpPr/>
        <p:nvPr/>
      </p:nvGrpSpPr>
      <p:grpSpPr>
        <a:xfrm>
          <a:off x="0" y="0"/>
          <a:ext cx="0" cy="0"/>
          <a:chOff x="0" y="0"/>
          <a:chExt cx="0" cy="0"/>
        </a:xfrm>
      </p:grpSpPr>
      <p:sp>
        <p:nvSpPr>
          <p:cNvPr id="7" name="Flussdiagramm: Prozess 6">
            <a:extLst>
              <a:ext uri="{FF2B5EF4-FFF2-40B4-BE49-F238E27FC236}">
                <a16:creationId xmlns:a16="http://schemas.microsoft.com/office/drawing/2014/main" id="{EB5BFC0D-DACA-42CD-92F1-5741FB16A8CD}"/>
              </a:ext>
            </a:extLst>
          </p:cNvPr>
          <p:cNvSpPr/>
          <p:nvPr userDrawn="1"/>
        </p:nvSpPr>
        <p:spPr>
          <a:xfrm rot="16200000">
            <a:off x="2667002" y="-2667001"/>
            <a:ext cx="6858000" cy="12192001"/>
          </a:xfrm>
          <a:prstGeom prst="flowChartProces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6" name="Titel 1">
            <a:extLst>
              <a:ext uri="{FF2B5EF4-FFF2-40B4-BE49-F238E27FC236}">
                <a16:creationId xmlns:a16="http://schemas.microsoft.com/office/drawing/2014/main" id="{92D990CD-8478-4B72-9C0F-72B9B0FF9766}"/>
              </a:ext>
            </a:extLst>
          </p:cNvPr>
          <p:cNvSpPr>
            <a:spLocks noGrp="1"/>
          </p:cNvSpPr>
          <p:nvPr>
            <p:ph type="title"/>
          </p:nvPr>
        </p:nvSpPr>
        <p:spPr>
          <a:xfrm>
            <a:off x="335360" y="548680"/>
            <a:ext cx="11233248" cy="720000"/>
          </a:xfrm>
          <a:prstGeom prst="rect">
            <a:avLst/>
          </a:prstGeom>
        </p:spPr>
        <p:txBody>
          <a:bodyPr/>
          <a:lstStyle>
            <a:lvl1pPr algn="l">
              <a:defRPr b="1">
                <a:solidFill>
                  <a:srgbClr val="8FC64A"/>
                </a:solidFill>
              </a:defRPr>
            </a:lvl1pPr>
          </a:lstStyle>
          <a:p>
            <a:r>
              <a:rPr lang="de-DE"/>
              <a:t>Mastertitelformat bearbeiten</a:t>
            </a:r>
            <a:endParaRPr lang="en-GB" dirty="0"/>
          </a:p>
        </p:txBody>
      </p:sp>
    </p:spTree>
    <p:extLst>
      <p:ext uri="{BB962C8B-B14F-4D97-AF65-F5344CB8AC3E}">
        <p14:creationId xmlns:p14="http://schemas.microsoft.com/office/powerpoint/2010/main" val="272401179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Übergang_mixed">
    <p:spTree>
      <p:nvGrpSpPr>
        <p:cNvPr id="1" name=""/>
        <p:cNvGrpSpPr/>
        <p:nvPr/>
      </p:nvGrpSpPr>
      <p:grpSpPr>
        <a:xfrm>
          <a:off x="0" y="0"/>
          <a:ext cx="0" cy="0"/>
          <a:chOff x="0" y="0"/>
          <a:chExt cx="0" cy="0"/>
        </a:xfrm>
      </p:grpSpPr>
      <p:sp>
        <p:nvSpPr>
          <p:cNvPr id="10" name="Rechtwinkliges Dreieck 9">
            <a:extLst>
              <a:ext uri="{FF2B5EF4-FFF2-40B4-BE49-F238E27FC236}">
                <a16:creationId xmlns:a16="http://schemas.microsoft.com/office/drawing/2014/main" id="{9437ED82-8361-497B-AE66-BD4CA2392668}"/>
              </a:ext>
            </a:extLst>
          </p:cNvPr>
          <p:cNvSpPr/>
          <p:nvPr userDrawn="1"/>
        </p:nvSpPr>
        <p:spPr>
          <a:xfrm rot="5400000">
            <a:off x="2664081" y="-2667002"/>
            <a:ext cx="6858000" cy="12192001"/>
          </a:xfrm>
          <a:prstGeom prst="rtTriangle">
            <a:avLst/>
          </a:prstGeom>
          <a:solidFill>
            <a:srgbClr val="006992"/>
          </a:solidFill>
          <a:ln>
            <a:solidFill>
              <a:srgbClr val="006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7" name="Rechtwinkliges Dreieck 6">
            <a:extLst>
              <a:ext uri="{FF2B5EF4-FFF2-40B4-BE49-F238E27FC236}">
                <a16:creationId xmlns:a16="http://schemas.microsoft.com/office/drawing/2014/main" id="{EB5BFC0D-DACA-42CD-92F1-5741FB16A8CD}"/>
              </a:ext>
            </a:extLst>
          </p:cNvPr>
          <p:cNvSpPr/>
          <p:nvPr userDrawn="1"/>
        </p:nvSpPr>
        <p:spPr>
          <a:xfrm rot="16200000">
            <a:off x="2667002" y="-2639617"/>
            <a:ext cx="6858000" cy="12192001"/>
          </a:xfrm>
          <a:prstGeom prst="rtTriangle">
            <a:avLst/>
          </a:prstGeom>
          <a:solidFill>
            <a:srgbClr val="90C7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8" name="Inhaltsplatzhalter 2">
            <a:extLst>
              <a:ext uri="{FF2B5EF4-FFF2-40B4-BE49-F238E27FC236}">
                <a16:creationId xmlns:a16="http://schemas.microsoft.com/office/drawing/2014/main" id="{193A1A64-3DDB-4B98-BF2C-E4A12BFB6F4B}"/>
              </a:ext>
            </a:extLst>
          </p:cNvPr>
          <p:cNvSpPr>
            <a:spLocks noGrp="1"/>
          </p:cNvSpPr>
          <p:nvPr>
            <p:ph idx="1" hasCustomPrompt="1"/>
          </p:nvPr>
        </p:nvSpPr>
        <p:spPr>
          <a:xfrm>
            <a:off x="839416" y="4166485"/>
            <a:ext cx="10501200" cy="2142835"/>
          </a:xfrm>
          <a:prstGeom prst="rect">
            <a:avLst/>
          </a:prstGeom>
          <a:solidFill>
            <a:schemeClr val="bg1">
              <a:lumMod val="50000"/>
              <a:alpha val="20000"/>
            </a:schemeClr>
          </a:solidFill>
        </p:spPr>
        <p:txBody>
          <a:bodyPr/>
          <a:lstStyle>
            <a:lvl1pPr marL="0" indent="0" algn="ctr">
              <a:buClr>
                <a:srgbClr val="225982"/>
              </a:buClr>
              <a:buFont typeface="Wingdings" panose="05000000000000000000" pitchFamily="2" charset="2"/>
              <a:buNone/>
              <a:defRPr lang="de-DE" sz="2800" kern="1200" dirty="0">
                <a:solidFill>
                  <a:schemeClr val="bg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p:txBody>
      </p:sp>
      <p:sp>
        <p:nvSpPr>
          <p:cNvPr id="9" name="Flussdiagramm: Prozess 8">
            <a:extLst>
              <a:ext uri="{FF2B5EF4-FFF2-40B4-BE49-F238E27FC236}">
                <a16:creationId xmlns:a16="http://schemas.microsoft.com/office/drawing/2014/main" id="{B2A46AB6-DB48-4DCA-849C-375625503ED4}"/>
              </a:ext>
            </a:extLst>
          </p:cNvPr>
          <p:cNvSpPr/>
          <p:nvPr userDrawn="1"/>
        </p:nvSpPr>
        <p:spPr>
          <a:xfrm>
            <a:off x="3935759" y="3406141"/>
            <a:ext cx="4320481" cy="45719"/>
          </a:xfrm>
          <a:prstGeom prst="flowChartProces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el 1">
            <a:extLst>
              <a:ext uri="{FF2B5EF4-FFF2-40B4-BE49-F238E27FC236}">
                <a16:creationId xmlns:a16="http://schemas.microsoft.com/office/drawing/2014/main" id="{92D990CD-8478-4B72-9C0F-72B9B0FF9766}"/>
              </a:ext>
            </a:extLst>
          </p:cNvPr>
          <p:cNvSpPr>
            <a:spLocks noGrp="1"/>
          </p:cNvSpPr>
          <p:nvPr>
            <p:ph type="title"/>
          </p:nvPr>
        </p:nvSpPr>
        <p:spPr>
          <a:xfrm>
            <a:off x="839416" y="1988840"/>
            <a:ext cx="10501200" cy="720000"/>
          </a:xfrm>
          <a:prstGeom prst="rect">
            <a:avLst/>
          </a:prstGeom>
          <a:solidFill>
            <a:schemeClr val="bg1">
              <a:lumMod val="50000"/>
              <a:alpha val="20000"/>
            </a:schemeClr>
          </a:solidFill>
        </p:spPr>
        <p:txBody>
          <a:bodyPr/>
          <a:lstStyle>
            <a:lvl1pPr algn="l">
              <a:defRPr b="1">
                <a:solidFill>
                  <a:schemeClr val="bg1"/>
                </a:solidFill>
              </a:defRPr>
            </a:lvl1pPr>
          </a:lstStyle>
          <a:p>
            <a:r>
              <a:rPr lang="de-DE"/>
              <a:t>Mastertitelformat bearbeiten</a:t>
            </a:r>
            <a:endParaRPr lang="en-GB" dirty="0"/>
          </a:p>
        </p:txBody>
      </p:sp>
    </p:spTree>
    <p:extLst>
      <p:ext uri="{BB962C8B-B14F-4D97-AF65-F5344CB8AC3E}">
        <p14:creationId xmlns:p14="http://schemas.microsoft.com/office/powerpoint/2010/main" val="163517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DBE2-7BD5-4504-BE83-4A871B0DFA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A95A043-771E-4D51-B889-F8E3EF76B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FE3B282-D827-4286-930A-9165A90C84EF}"/>
              </a:ext>
            </a:extLst>
          </p:cNvPr>
          <p:cNvSpPr>
            <a:spLocks noGrp="1"/>
          </p:cNvSpPr>
          <p:nvPr>
            <p:ph type="dt" sz="half" idx="10"/>
          </p:nvPr>
        </p:nvSpPr>
        <p:spPr/>
        <p:txBody>
          <a:bodyPr/>
          <a:lstStyle/>
          <a:p>
            <a:fld id="{5AA2295B-B536-4D03-8B6E-03C176556E83}" type="datetimeFigureOut">
              <a:rPr lang="en-GB" smtClean="0"/>
              <a:t>29/10/2025</a:t>
            </a:fld>
            <a:endParaRPr lang="en-GB"/>
          </a:p>
        </p:txBody>
      </p:sp>
      <p:sp>
        <p:nvSpPr>
          <p:cNvPr id="5" name="Footer Placeholder 4">
            <a:extLst>
              <a:ext uri="{FF2B5EF4-FFF2-40B4-BE49-F238E27FC236}">
                <a16:creationId xmlns:a16="http://schemas.microsoft.com/office/drawing/2014/main" id="{F85580C4-17EE-4C60-9B0A-389C5A2FD7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94F851-3EB6-4182-9DD8-AB3DB3A81A31}"/>
              </a:ext>
            </a:extLst>
          </p:cNvPr>
          <p:cNvSpPr>
            <a:spLocks noGrp="1"/>
          </p:cNvSpPr>
          <p:nvPr>
            <p:ph type="sldNum" sz="quarter" idx="12"/>
          </p:nvPr>
        </p:nvSpPr>
        <p:spPr/>
        <p:txBody>
          <a:bodyPr/>
          <a:lstStyle/>
          <a:p>
            <a:fld id="{A1303D85-C3FB-40A5-8A95-9F1D8464032A}" type="slidenum">
              <a:rPr lang="en-GB" smtClean="0"/>
              <a:t>‹Nr.›</a:t>
            </a:fld>
            <a:endParaRPr lang="en-GB"/>
          </a:p>
        </p:txBody>
      </p:sp>
    </p:spTree>
    <p:extLst>
      <p:ext uri="{BB962C8B-B14F-4D97-AF65-F5344CB8AC3E}">
        <p14:creationId xmlns:p14="http://schemas.microsoft.com/office/powerpoint/2010/main" val="404915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_new_Einfache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76752"/>
            <a:ext cx="9218240" cy="720000"/>
          </a:xfrm>
          <a:prstGeom prst="rect">
            <a:avLst/>
          </a:prstGeom>
        </p:spPr>
        <p:txBody>
          <a:bodyPr>
            <a:normAutofit/>
          </a:bodyPr>
          <a:lstStyle>
            <a:lvl1pPr algn="l">
              <a:defRPr sz="4000"/>
            </a:lvl1pPr>
          </a:lstStyle>
          <a:p>
            <a:r>
              <a:rPr lang="de-DE" dirty="0"/>
              <a:t>Titelmasterformat durch Klicken bearbeiten</a:t>
            </a:r>
            <a:endParaRPr lang="en-GB" dirty="0"/>
          </a:p>
        </p:txBody>
      </p:sp>
      <p:sp>
        <p:nvSpPr>
          <p:cNvPr id="3" name="Inhaltsplatzhalter 2"/>
          <p:cNvSpPr>
            <a:spLocks noGrp="1"/>
          </p:cNvSpPr>
          <p:nvPr>
            <p:ph idx="1" hasCustomPrompt="1"/>
          </p:nvPr>
        </p:nvSpPr>
        <p:spPr>
          <a:xfrm>
            <a:off x="838200" y="1286165"/>
            <a:ext cx="10514384" cy="4525963"/>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6244176"/>
            <a:ext cx="12192000" cy="65144"/>
          </a:xfrm>
          <a:prstGeom prst="flowChartProcess">
            <a:avLst/>
          </a:prstGeom>
          <a:gradFill flip="none" rotWithShape="1">
            <a:gsLst>
              <a:gs pos="0">
                <a:srgbClr val="90C73E"/>
              </a:gs>
              <a:gs pos="100000">
                <a:srgbClr val="00699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descr="Ein Bild, das Text enthält.&#10;&#10;Automatisch generierte Beschreibung">
            <a:extLst>
              <a:ext uri="{FF2B5EF4-FFF2-40B4-BE49-F238E27FC236}">
                <a16:creationId xmlns:a16="http://schemas.microsoft.com/office/drawing/2014/main" id="{38DF2B75-222D-42A3-BEFD-B838720E2DC5}"/>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3535"/>
          <a:stretch/>
        </p:blipFill>
        <p:spPr>
          <a:xfrm>
            <a:off x="10134461" y="116632"/>
            <a:ext cx="1719297" cy="747299"/>
          </a:xfrm>
          <a:prstGeom prst="rect">
            <a:avLst/>
          </a:prstGeom>
        </p:spPr>
      </p:pic>
      <p:sp>
        <p:nvSpPr>
          <p:cNvPr id="14" name="Datumsplatzhalter 14">
            <a:extLst>
              <a:ext uri="{FF2B5EF4-FFF2-40B4-BE49-F238E27FC236}">
                <a16:creationId xmlns:a16="http://schemas.microsoft.com/office/drawing/2014/main" id="{B4514DBE-6C5B-4580-8AF1-80C38BC2B917}"/>
              </a:ext>
            </a:extLst>
          </p:cNvPr>
          <p:cNvSpPr>
            <a:spLocks noGrp="1"/>
          </p:cNvSpPr>
          <p:nvPr>
            <p:ph type="dt" sz="half" idx="2"/>
          </p:nvPr>
        </p:nvSpPr>
        <p:spPr>
          <a:xfrm>
            <a:off x="838200" y="6309320"/>
            <a:ext cx="2743200" cy="365125"/>
          </a:xfrm>
          <a:prstGeom prst="rect">
            <a:avLst/>
          </a:prstGeom>
        </p:spPr>
        <p:txBody>
          <a:bodyPr vert="horz" lIns="91440" tIns="45720" rIns="91440" bIns="45720" rtlCol="0" anchor="ctr"/>
          <a:lstStyle>
            <a:lvl1pPr algn="l">
              <a:defRPr sz="1200">
                <a:solidFill>
                  <a:srgbClr val="90C73E"/>
                </a:solidFill>
              </a:defRPr>
            </a:lvl1pPr>
          </a:lstStyle>
          <a:p>
            <a:r>
              <a:rPr lang="de-DE"/>
              <a:t>05.11.2024</a:t>
            </a:r>
            <a:endParaRPr lang="de-DE" dirty="0"/>
          </a:p>
        </p:txBody>
      </p:sp>
    </p:spTree>
  </p:cSld>
  <p:clrMapOvr>
    <a:masterClrMapping/>
  </p:clrMapOvr>
  <p:transition spd="med">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new_Einfache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76752"/>
            <a:ext cx="9218240" cy="720000"/>
          </a:xfrm>
          <a:prstGeom prst="rect">
            <a:avLst/>
          </a:prstGeom>
        </p:spPr>
        <p:txBody>
          <a:bodyPr>
            <a:normAutofit/>
          </a:bodyPr>
          <a:lstStyle>
            <a:lvl1pPr algn="l">
              <a:defRPr sz="4000" b="1"/>
            </a:lvl1pPr>
          </a:lstStyle>
          <a:p>
            <a:r>
              <a:rPr lang="de-DE" dirty="0"/>
              <a:t>Titelmasterformat durch Klicken bearbeiten</a:t>
            </a:r>
            <a:endParaRPr lang="en-GB" dirty="0"/>
          </a:p>
        </p:txBody>
      </p:sp>
      <p:sp>
        <p:nvSpPr>
          <p:cNvPr id="3" name="Inhaltsplatzhalter 2"/>
          <p:cNvSpPr>
            <a:spLocks noGrp="1"/>
          </p:cNvSpPr>
          <p:nvPr>
            <p:ph idx="1" hasCustomPrompt="1"/>
          </p:nvPr>
        </p:nvSpPr>
        <p:spPr>
          <a:xfrm>
            <a:off x="838200" y="1286165"/>
            <a:ext cx="10514384" cy="4525963"/>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6244176"/>
            <a:ext cx="12192000" cy="65144"/>
          </a:xfrm>
          <a:prstGeom prst="flowChartProcess">
            <a:avLst/>
          </a:prstGeom>
          <a:gradFill flip="none" rotWithShape="1">
            <a:gsLst>
              <a:gs pos="0">
                <a:srgbClr val="90C73E"/>
              </a:gs>
              <a:gs pos="100000">
                <a:srgbClr val="00699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descr="Ein Bild, das Text enthält.&#10;&#10;Automatisch generierte Beschreibung">
            <a:extLst>
              <a:ext uri="{FF2B5EF4-FFF2-40B4-BE49-F238E27FC236}">
                <a16:creationId xmlns:a16="http://schemas.microsoft.com/office/drawing/2014/main" id="{38DF2B75-222D-42A3-BEFD-B838720E2DC5}"/>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3535"/>
          <a:stretch/>
        </p:blipFill>
        <p:spPr>
          <a:xfrm>
            <a:off x="10134461" y="116632"/>
            <a:ext cx="1719297" cy="747299"/>
          </a:xfrm>
          <a:prstGeom prst="rect">
            <a:avLst/>
          </a:prstGeom>
        </p:spPr>
      </p:pic>
      <p:sp>
        <p:nvSpPr>
          <p:cNvPr id="14" name="Datumsplatzhalter 14">
            <a:extLst>
              <a:ext uri="{FF2B5EF4-FFF2-40B4-BE49-F238E27FC236}">
                <a16:creationId xmlns:a16="http://schemas.microsoft.com/office/drawing/2014/main" id="{B4514DBE-6C5B-4580-8AF1-80C38BC2B917}"/>
              </a:ext>
            </a:extLst>
          </p:cNvPr>
          <p:cNvSpPr>
            <a:spLocks noGrp="1"/>
          </p:cNvSpPr>
          <p:nvPr>
            <p:ph type="dt" sz="half" idx="2"/>
          </p:nvPr>
        </p:nvSpPr>
        <p:spPr>
          <a:xfrm>
            <a:off x="838200" y="6309320"/>
            <a:ext cx="2743200" cy="365125"/>
          </a:xfrm>
          <a:prstGeom prst="rect">
            <a:avLst/>
          </a:prstGeom>
        </p:spPr>
        <p:txBody>
          <a:bodyPr vert="horz" lIns="91440" tIns="45720" rIns="91440" bIns="45720" rtlCol="0" anchor="ctr"/>
          <a:lstStyle>
            <a:lvl1pPr algn="l">
              <a:defRPr sz="1200">
                <a:solidFill>
                  <a:srgbClr val="90C73E"/>
                </a:solidFill>
              </a:defRPr>
            </a:lvl1pPr>
          </a:lstStyle>
          <a:p>
            <a:fld id="{0C8BB6C9-DF8E-473B-ADAD-9D871ADAC294}" type="datetime1">
              <a:rPr lang="de-DE" smtClean="0"/>
              <a:t>29.10.2025</a:t>
            </a:fld>
            <a:endParaRPr lang="de-DE" dirty="0"/>
          </a:p>
        </p:txBody>
      </p:sp>
    </p:spTree>
  </p:cSld>
  <p:clrMapOvr>
    <a:masterClrMapping/>
  </p:clrMapOvr>
  <p:transition spd="med">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DBE2-7BD5-4504-BE83-4A871B0DFA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A95A043-771E-4D51-B889-F8E3EF76B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FE3B282-D827-4286-930A-9165A90C84EF}"/>
              </a:ext>
            </a:extLst>
          </p:cNvPr>
          <p:cNvSpPr>
            <a:spLocks noGrp="1"/>
          </p:cNvSpPr>
          <p:nvPr>
            <p:ph type="dt" sz="half" idx="10"/>
          </p:nvPr>
        </p:nvSpPr>
        <p:spPr/>
        <p:txBody>
          <a:bodyPr/>
          <a:lstStyle/>
          <a:p>
            <a:fld id="{5AA2295B-B536-4D03-8B6E-03C176556E83}" type="datetimeFigureOut">
              <a:rPr lang="en-GB" smtClean="0"/>
              <a:t>29/10/2025</a:t>
            </a:fld>
            <a:endParaRPr lang="en-GB"/>
          </a:p>
        </p:txBody>
      </p:sp>
      <p:sp>
        <p:nvSpPr>
          <p:cNvPr id="5" name="Footer Placeholder 4">
            <a:extLst>
              <a:ext uri="{FF2B5EF4-FFF2-40B4-BE49-F238E27FC236}">
                <a16:creationId xmlns:a16="http://schemas.microsoft.com/office/drawing/2014/main" id="{F85580C4-17EE-4C60-9B0A-389C5A2FD7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94F851-3EB6-4182-9DD8-AB3DB3A81A31}"/>
              </a:ext>
            </a:extLst>
          </p:cNvPr>
          <p:cNvSpPr>
            <a:spLocks noGrp="1"/>
          </p:cNvSpPr>
          <p:nvPr>
            <p:ph type="sldNum" sz="quarter" idx="12"/>
          </p:nvPr>
        </p:nvSpPr>
        <p:spPr/>
        <p:txBody>
          <a:bodyPr/>
          <a:lstStyle/>
          <a:p>
            <a:fld id="{A1303D85-C3FB-40A5-8A95-9F1D8464032A}" type="slidenum">
              <a:rPr lang="en-GB" smtClean="0"/>
              <a:t>‹Nr.›</a:t>
            </a:fld>
            <a:endParaRPr lang="en-GB"/>
          </a:p>
        </p:txBody>
      </p:sp>
    </p:spTree>
    <p:extLst>
      <p:ext uri="{BB962C8B-B14F-4D97-AF65-F5344CB8AC3E}">
        <p14:creationId xmlns:p14="http://schemas.microsoft.com/office/powerpoint/2010/main" val="1315863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127448" y="274638"/>
            <a:ext cx="10454952" cy="1143000"/>
          </a:xfrm>
          <a:prstGeom prst="rect">
            <a:avLst/>
          </a:prstGeom>
        </p:spPr>
        <p:txBody>
          <a:bodyPr vert="horz" lIns="91440" tIns="45720" rIns="91440" bIns="45720" rtlCol="0" anchor="ctr">
            <a:normAutofit/>
          </a:bodyPr>
          <a:lstStyle/>
          <a:p>
            <a:r>
              <a:rPr lang="de-DE" dirty="0"/>
              <a:t>Titelmasterformat durch Klicken bearbeiten</a:t>
            </a:r>
            <a:endParaRPr lang="en-GB" dirty="0"/>
          </a:p>
        </p:txBody>
      </p:sp>
      <p:sp>
        <p:nvSpPr>
          <p:cNvPr id="3" name="Textplatzhalter 2"/>
          <p:cNvSpPr>
            <a:spLocks noGrp="1"/>
          </p:cNvSpPr>
          <p:nvPr>
            <p:ph type="body" idx="1"/>
          </p:nvPr>
        </p:nvSpPr>
        <p:spPr>
          <a:xfrm>
            <a:off x="1127448" y="1600201"/>
            <a:ext cx="10454952" cy="4525963"/>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13" name="Foliennummernplatzhalter 7">
            <a:extLst>
              <a:ext uri="{FF2B5EF4-FFF2-40B4-BE49-F238E27FC236}">
                <a16:creationId xmlns:a16="http://schemas.microsoft.com/office/drawing/2014/main" id="{950118FB-7292-4CEC-8989-1359E0E00AD6}"/>
              </a:ext>
            </a:extLst>
          </p:cNvPr>
          <p:cNvSpPr txBox="1">
            <a:spLocks/>
          </p:cNvSpPr>
          <p:nvPr userDrawn="1"/>
        </p:nvSpPr>
        <p:spPr>
          <a:xfrm>
            <a:off x="8737600" y="6309320"/>
            <a:ext cx="2844800" cy="365125"/>
          </a:xfrm>
          <a:prstGeom prst="rect">
            <a:avLst/>
          </a:prstGeom>
        </p:spPr>
        <p:txBody>
          <a:bodyPr vert="horz" lIns="91440" tIns="45720" rIns="91440" bIns="45720" rtlCol="0" anchor="ctr"/>
          <a:lstStyle>
            <a:defPPr>
              <a:defRPr lang="de-D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892976-411F-46D9-BF6E-6EA650021608}" type="slidenum">
              <a:rPr lang="en-GB" sz="1600" smtClean="0">
                <a:solidFill>
                  <a:srgbClr val="006992"/>
                </a:solidFill>
              </a:rPr>
              <a:pPr/>
              <a:t>‹Nr.›</a:t>
            </a:fld>
            <a:endParaRPr lang="en-GB" sz="1600" dirty="0">
              <a:solidFill>
                <a:srgbClr val="006992"/>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1" r:id="rId2"/>
    <p:sldLayoutId id="2147483650" r:id="rId3"/>
    <p:sldLayoutId id="2147483663" r:id="rId4"/>
    <p:sldLayoutId id="2147483654" r:id="rId5"/>
    <p:sldLayoutId id="2147483664" r:id="rId6"/>
    <p:sldLayoutId id="2147483665" r:id="rId7"/>
    <p:sldLayoutId id="2147483666" r:id="rId8"/>
  </p:sldLayoutIdLst>
  <p:hf sldNum="0" hdr="0" ftr="0"/>
  <p:txStyles>
    <p:titleStyle>
      <a:lvl1pPr algn="l" defTabSz="914400" rtl="0" eaLnBrk="1" latinLnBrk="0" hangingPunct="1">
        <a:spcBef>
          <a:spcPct val="0"/>
        </a:spcBef>
        <a:buNone/>
        <a:defRPr lang="en-GB" sz="4400" kern="1200" dirty="0">
          <a:solidFill>
            <a:schemeClr val="tx1"/>
          </a:solidFill>
          <a:latin typeface="+mj-lt"/>
          <a:ea typeface="+mj-ea"/>
          <a:cs typeface="+mj-cs"/>
        </a:defRPr>
      </a:lvl1pPr>
    </p:titleStyle>
    <p:body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85725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2pPr>
      <a:lvl3pPr marL="11430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16002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057400" indent="-342900" algn="l" defTabSz="914400" rtl="0" eaLnBrk="1" latinLnBrk="0" hangingPunct="1">
        <a:spcBef>
          <a:spcPct val="20000"/>
        </a:spcBef>
        <a:buClr>
          <a:srgbClr val="225982"/>
        </a:buClr>
        <a:buFont typeface="Wingdings" panose="05000000000000000000" pitchFamily="2" charset="2"/>
        <a:buChar char="§"/>
        <a:defRPr lang="en-GB"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127448" y="274638"/>
            <a:ext cx="10454952" cy="1143000"/>
          </a:xfrm>
          <a:prstGeom prst="rect">
            <a:avLst/>
          </a:prstGeom>
        </p:spPr>
        <p:txBody>
          <a:bodyPr vert="horz" lIns="91440" tIns="45720" rIns="91440" bIns="45720" rtlCol="0" anchor="ctr">
            <a:normAutofit/>
          </a:bodyPr>
          <a:lstStyle/>
          <a:p>
            <a:r>
              <a:rPr lang="de-DE" dirty="0"/>
              <a:t>Titelmasterformat durch Klicken bearbeiten</a:t>
            </a:r>
            <a:endParaRPr lang="en-GB" dirty="0"/>
          </a:p>
        </p:txBody>
      </p:sp>
      <p:sp>
        <p:nvSpPr>
          <p:cNvPr id="3" name="Textplatzhalter 2"/>
          <p:cNvSpPr>
            <a:spLocks noGrp="1"/>
          </p:cNvSpPr>
          <p:nvPr>
            <p:ph type="body" idx="1"/>
          </p:nvPr>
        </p:nvSpPr>
        <p:spPr>
          <a:xfrm>
            <a:off x="1127448" y="1600201"/>
            <a:ext cx="10454952" cy="4525963"/>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13" name="Foliennummernplatzhalter 7">
            <a:extLst>
              <a:ext uri="{FF2B5EF4-FFF2-40B4-BE49-F238E27FC236}">
                <a16:creationId xmlns:a16="http://schemas.microsoft.com/office/drawing/2014/main" id="{950118FB-7292-4CEC-8989-1359E0E00AD6}"/>
              </a:ext>
            </a:extLst>
          </p:cNvPr>
          <p:cNvSpPr txBox="1">
            <a:spLocks/>
          </p:cNvSpPr>
          <p:nvPr userDrawn="1"/>
        </p:nvSpPr>
        <p:spPr>
          <a:xfrm>
            <a:off x="8737600" y="6309320"/>
            <a:ext cx="2844800" cy="365125"/>
          </a:xfrm>
          <a:prstGeom prst="rect">
            <a:avLst/>
          </a:prstGeom>
        </p:spPr>
        <p:txBody>
          <a:bodyPr vert="horz" lIns="91440" tIns="45720" rIns="91440" bIns="45720" rtlCol="0" anchor="ctr"/>
          <a:lstStyle>
            <a:defPPr>
              <a:defRPr lang="de-D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892976-411F-46D9-BF6E-6EA650021608}" type="slidenum">
              <a:rPr lang="en-GB" sz="1600" smtClean="0">
                <a:solidFill>
                  <a:srgbClr val="006992"/>
                </a:solidFill>
              </a:rPr>
              <a:pPr/>
              <a:t>‹Nr.›</a:t>
            </a:fld>
            <a:endParaRPr lang="en-GB" sz="1600" dirty="0">
              <a:solidFill>
                <a:srgbClr val="006992"/>
              </a:solidFill>
            </a:endParaRPr>
          </a:p>
        </p:txBody>
      </p:sp>
    </p:spTree>
  </p:cSld>
  <p:clrMap bg1="lt1" tx1="dk1" bg2="lt2" tx2="dk2" accent1="accent1" accent2="accent2" accent3="accent3" accent4="accent4" accent5="accent5" accent6="accent6" hlink="hlink" folHlink="folHlink"/>
  <p:sldLayoutIdLst>
    <p:sldLayoutId id="2147483671" r:id="rId1"/>
    <p:sldLayoutId id="2147483670" r:id="rId2"/>
    <p:sldLayoutId id="2147483668" r:id="rId3"/>
  </p:sldLayoutIdLst>
  <p:hf sldNum="0" hdr="0" ftr="0"/>
  <p:txStyles>
    <p:titleStyle>
      <a:lvl1pPr algn="l" defTabSz="914400" rtl="0" eaLnBrk="1" latinLnBrk="0" hangingPunct="1">
        <a:spcBef>
          <a:spcPct val="0"/>
        </a:spcBef>
        <a:buNone/>
        <a:defRPr lang="en-GB" sz="4400" kern="1200" dirty="0">
          <a:solidFill>
            <a:schemeClr val="tx1"/>
          </a:solidFill>
          <a:latin typeface="+mj-lt"/>
          <a:ea typeface="+mj-ea"/>
          <a:cs typeface="+mj-cs"/>
        </a:defRPr>
      </a:lvl1pPr>
    </p:titleStyle>
    <p:body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85725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2pPr>
      <a:lvl3pPr marL="11430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16002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057400" indent="-342900" algn="l" defTabSz="914400" rtl="0" eaLnBrk="1" latinLnBrk="0" hangingPunct="1">
        <a:spcBef>
          <a:spcPct val="20000"/>
        </a:spcBef>
        <a:buClr>
          <a:srgbClr val="225982"/>
        </a:buClr>
        <a:buFont typeface="Wingdings" panose="05000000000000000000" pitchFamily="2" charset="2"/>
        <a:buChar char="§"/>
        <a:defRPr lang="en-GB"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13" Type="http://schemas.microsoft.com/office/2007/relationships/hdphoto" Target="../media/hdphoto2.wdp"/><Relationship Id="rId3" Type="http://schemas.openxmlformats.org/officeDocument/2006/relationships/image" Target="../media/image19.png"/><Relationship Id="rId7" Type="http://schemas.openxmlformats.org/officeDocument/2006/relationships/hyperlink" Target="mailto:info@nfdi4cat.org" TargetMode="External"/><Relationship Id="rId12"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hyperlink" Target="https://nfdi.social/@NFDI4Cat" TargetMode="External"/><Relationship Id="rId5" Type="http://schemas.openxmlformats.org/officeDocument/2006/relationships/hyperlink" Target="https://www.linkedin.com/company/nfdi4cat" TargetMode="External"/><Relationship Id="rId10" Type="http://schemas.openxmlformats.org/officeDocument/2006/relationships/hyperlink" Target="http://www.nfdi4cat.org/" TargetMode="External"/><Relationship Id="rId4" Type="http://schemas.openxmlformats.org/officeDocument/2006/relationships/hyperlink" Target="http://pngimg.com/download/55034" TargetMode="External"/><Relationship Id="rId9"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diagram&#10;&#10;Description automatically generated">
            <a:extLst>
              <a:ext uri="{FF2B5EF4-FFF2-40B4-BE49-F238E27FC236}">
                <a16:creationId xmlns:a16="http://schemas.microsoft.com/office/drawing/2014/main" id="{D36E2000-2785-4333-935E-03ACB085EE5E}"/>
              </a:ext>
            </a:extLst>
          </p:cNvPr>
          <p:cNvPicPr>
            <a:picLocks noGrp="1" noRot="1" noChangeAspect="1" noMove="1" noResize="1" noEditPoints="1" noAdjustHandles="1" noChangeArrowheads="1" noChangeShapeType="1" noCrop="1"/>
          </p:cNvPicPr>
          <p:nvPr/>
        </p:nvPicPr>
        <p:blipFill rotWithShape="1">
          <a:blip r:embed="rId3">
            <a:alphaModFix amt="51000"/>
            <a:extLst>
              <a:ext uri="{28A0092B-C50C-407E-A947-70E740481C1C}">
                <a14:useLocalDpi xmlns:a14="http://schemas.microsoft.com/office/drawing/2010/main" val="0"/>
              </a:ext>
            </a:extLst>
          </a:blip>
          <a:srcRect l="6666"/>
          <a:stretch/>
        </p:blipFill>
        <p:spPr>
          <a:xfrm flipH="1">
            <a:off x="0" y="0"/>
            <a:ext cx="12219743" cy="6846891"/>
          </a:xfrm>
          <a:prstGeom prst="rect">
            <a:avLst/>
          </a:prstGeom>
        </p:spPr>
      </p:pic>
      <p:pic>
        <p:nvPicPr>
          <p:cNvPr id="16" name="Picture 15" descr="Logo&#10;&#10;Description automatically generated">
            <a:extLst>
              <a:ext uri="{FF2B5EF4-FFF2-40B4-BE49-F238E27FC236}">
                <a16:creationId xmlns:a16="http://schemas.microsoft.com/office/drawing/2014/main" id="{997B77BB-5155-4C9B-98CF-F84B4D86BB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0189" y="241629"/>
            <a:ext cx="4536451" cy="1770176"/>
          </a:xfrm>
          <a:prstGeom prst="rect">
            <a:avLst/>
          </a:prstGeom>
        </p:spPr>
      </p:pic>
      <p:sp>
        <p:nvSpPr>
          <p:cNvPr id="18" name="TextBox 17">
            <a:extLst>
              <a:ext uri="{FF2B5EF4-FFF2-40B4-BE49-F238E27FC236}">
                <a16:creationId xmlns:a16="http://schemas.microsoft.com/office/drawing/2014/main" id="{E076B776-80FF-4247-99B3-D88C7C06A0DB}"/>
              </a:ext>
            </a:extLst>
          </p:cNvPr>
          <p:cNvSpPr txBox="1"/>
          <p:nvPr/>
        </p:nvSpPr>
        <p:spPr>
          <a:xfrm>
            <a:off x="7129817" y="1905387"/>
            <a:ext cx="3816424" cy="369332"/>
          </a:xfrm>
          <a:prstGeom prst="rect">
            <a:avLst/>
          </a:prstGeom>
          <a:noFill/>
        </p:spPr>
        <p:txBody>
          <a:bodyPr wrap="square">
            <a:spAutoFit/>
          </a:bodyPr>
          <a:lstStyle/>
          <a:p>
            <a:pPr algn="r"/>
            <a:r>
              <a:rPr lang="en-GB" b="1" i="1" dirty="0">
                <a:solidFill>
                  <a:srgbClr val="005D7E"/>
                </a:solidFill>
                <a:effectLst/>
              </a:rPr>
              <a:t>Shaping the Digital </a:t>
            </a:r>
            <a:r>
              <a:rPr lang="en-GB" b="1" i="1" dirty="0">
                <a:solidFill>
                  <a:srgbClr val="005D7E"/>
                </a:solidFill>
              </a:rPr>
              <a:t>F</a:t>
            </a:r>
            <a:r>
              <a:rPr lang="en-GB" b="1" i="1" dirty="0">
                <a:solidFill>
                  <a:srgbClr val="005D7E"/>
                </a:solidFill>
                <a:effectLst/>
              </a:rPr>
              <a:t>uture of Catalysis</a:t>
            </a:r>
          </a:p>
        </p:txBody>
      </p:sp>
      <p:sp>
        <p:nvSpPr>
          <p:cNvPr id="19" name="TextBox 18">
            <a:extLst>
              <a:ext uri="{FF2B5EF4-FFF2-40B4-BE49-F238E27FC236}">
                <a16:creationId xmlns:a16="http://schemas.microsoft.com/office/drawing/2014/main" id="{26BCB017-6732-471E-BAA1-4AA2C6119B1F}"/>
              </a:ext>
            </a:extLst>
          </p:cNvPr>
          <p:cNvSpPr txBox="1"/>
          <p:nvPr/>
        </p:nvSpPr>
        <p:spPr>
          <a:xfrm>
            <a:off x="335360" y="3534953"/>
            <a:ext cx="11665297" cy="1200329"/>
          </a:xfrm>
          <a:prstGeom prst="rect">
            <a:avLst/>
          </a:prstGeom>
          <a:noFill/>
        </p:spPr>
        <p:txBody>
          <a:bodyPr wrap="square" rtlCol="0">
            <a:spAutoFit/>
          </a:bodyPr>
          <a:lstStyle/>
          <a:p>
            <a:pPr algn="r"/>
            <a:r>
              <a:rPr lang="en-GB" sz="3600" b="1" dirty="0">
                <a:solidFill>
                  <a:srgbClr val="225982"/>
                </a:solidFill>
                <a:latin typeface="Arial" panose="020B0604020202020204" pitchFamily="34" charset="0"/>
                <a:cs typeface="Arial" panose="020B0604020202020204" pitchFamily="34" charset="0"/>
              </a:rPr>
              <a:t>Metadata of  Abstracts </a:t>
            </a:r>
            <a:br>
              <a:rPr lang="en-GB" sz="3600" b="1" dirty="0">
                <a:solidFill>
                  <a:srgbClr val="225982"/>
                </a:solidFill>
                <a:latin typeface="Arial" panose="020B0604020202020204" pitchFamily="34" charset="0"/>
                <a:cs typeface="Arial" panose="020B0604020202020204" pitchFamily="34" charset="0"/>
              </a:rPr>
            </a:br>
            <a:r>
              <a:rPr lang="en-GB" sz="3600" b="1" dirty="0">
                <a:solidFill>
                  <a:srgbClr val="225982"/>
                </a:solidFill>
                <a:latin typeface="Arial" panose="020B0604020202020204" pitchFamily="34" charset="0"/>
                <a:cs typeface="Arial" panose="020B0604020202020204" pitchFamily="34" charset="0"/>
              </a:rPr>
              <a:t>58. </a:t>
            </a:r>
            <a:r>
              <a:rPr lang="en-GB" sz="3600" b="1" dirty="0" err="1">
                <a:solidFill>
                  <a:srgbClr val="225982"/>
                </a:solidFill>
                <a:latin typeface="Arial" panose="020B0604020202020204" pitchFamily="34" charset="0"/>
                <a:cs typeface="Arial" panose="020B0604020202020204" pitchFamily="34" charset="0"/>
              </a:rPr>
              <a:t>Jahrestreffen</a:t>
            </a:r>
            <a:r>
              <a:rPr lang="en-GB" sz="3600" b="1" dirty="0">
                <a:solidFill>
                  <a:srgbClr val="225982"/>
                </a:solidFill>
                <a:latin typeface="Arial" panose="020B0604020202020204" pitchFamily="34" charset="0"/>
                <a:cs typeface="Arial" panose="020B0604020202020204" pitchFamily="34" charset="0"/>
              </a:rPr>
              <a:t> </a:t>
            </a:r>
            <a:r>
              <a:rPr lang="en-GB" sz="3600" b="1" dirty="0" err="1">
                <a:solidFill>
                  <a:srgbClr val="225982"/>
                </a:solidFill>
                <a:latin typeface="Arial" panose="020B0604020202020204" pitchFamily="34" charset="0"/>
                <a:cs typeface="Arial" panose="020B0604020202020204" pitchFamily="34" charset="0"/>
              </a:rPr>
              <a:t>Deutscher</a:t>
            </a:r>
            <a:r>
              <a:rPr lang="en-GB" sz="3600" b="1" dirty="0">
                <a:solidFill>
                  <a:srgbClr val="225982"/>
                </a:solidFill>
                <a:latin typeface="Arial" panose="020B0604020202020204" pitchFamily="34" charset="0"/>
                <a:cs typeface="Arial" panose="020B0604020202020204" pitchFamily="34" charset="0"/>
              </a:rPr>
              <a:t> </a:t>
            </a:r>
            <a:r>
              <a:rPr lang="en-GB" sz="3600" b="1" dirty="0" err="1">
                <a:solidFill>
                  <a:srgbClr val="225982"/>
                </a:solidFill>
                <a:latin typeface="Arial" panose="020B0604020202020204" pitchFamily="34" charset="0"/>
                <a:cs typeface="Arial" panose="020B0604020202020204" pitchFamily="34" charset="0"/>
              </a:rPr>
              <a:t>Katalytiker</a:t>
            </a:r>
            <a:r>
              <a:rPr lang="en-GB" sz="3600" b="1" dirty="0">
                <a:solidFill>
                  <a:srgbClr val="225982"/>
                </a:solidFill>
                <a:latin typeface="Arial" panose="020B0604020202020204" pitchFamily="34" charset="0"/>
                <a:cs typeface="Arial" panose="020B0604020202020204" pitchFamily="34" charset="0"/>
              </a:rPr>
              <a:t> </a:t>
            </a:r>
          </a:p>
        </p:txBody>
      </p:sp>
      <p:sp>
        <p:nvSpPr>
          <p:cNvPr id="2" name="Rectangle 1">
            <a:extLst>
              <a:ext uri="{FF2B5EF4-FFF2-40B4-BE49-F238E27FC236}">
                <a16:creationId xmlns:a16="http://schemas.microsoft.com/office/drawing/2014/main" id="{AADDACBD-6ECA-69A5-DBF9-B5FB94FFD48D}"/>
              </a:ext>
            </a:extLst>
          </p:cNvPr>
          <p:cNvSpPr/>
          <p:nvPr/>
        </p:nvSpPr>
        <p:spPr>
          <a:xfrm>
            <a:off x="12047012" y="0"/>
            <a:ext cx="172731" cy="6858000"/>
          </a:xfrm>
          <a:prstGeom prst="rect">
            <a:avLst/>
          </a:prstGeom>
          <a:solidFill>
            <a:srgbClr val="8DB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87CB88C3-7C60-6326-7C27-A46C5A0CAD15}"/>
              </a:ext>
            </a:extLst>
          </p:cNvPr>
          <p:cNvSpPr>
            <a:spLocks noGrp="1" noRot="1" noMove="1" noResize="1" noEditPoints="1" noAdjustHandles="1" noChangeArrowheads="1" noChangeShapeType="1"/>
          </p:cNvSpPr>
          <p:nvPr/>
        </p:nvSpPr>
        <p:spPr>
          <a:xfrm>
            <a:off x="10704512" y="6097201"/>
            <a:ext cx="971617" cy="652041"/>
          </a:xfrm>
          <a:prstGeom prst="rect">
            <a:avLst/>
          </a:prstGeom>
          <a:solidFill>
            <a:srgbClr val="F4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375458FC-0B64-2DBC-5C75-BAB308B2D652}"/>
              </a:ext>
            </a:extLst>
          </p:cNvPr>
          <p:cNvSpPr txBox="1"/>
          <p:nvPr/>
        </p:nvSpPr>
        <p:spPr>
          <a:xfrm>
            <a:off x="1443636" y="5970000"/>
            <a:ext cx="2304256" cy="369332"/>
          </a:xfrm>
          <a:prstGeom prst="rect">
            <a:avLst/>
          </a:prstGeom>
          <a:noFill/>
        </p:spPr>
        <p:txBody>
          <a:bodyPr wrap="square">
            <a:spAutoFit/>
          </a:bodyPr>
          <a:lstStyle>
            <a:defPPr>
              <a:defRPr lang="de-DE"/>
            </a:defPPr>
            <a:lvl1pPr>
              <a:defRPr b="1" i="0" u="none" strike="noStrike">
                <a:solidFill>
                  <a:srgbClr val="225982"/>
                </a:solidFill>
                <a:effectLst/>
              </a:defRPr>
            </a:lvl1pPr>
          </a:lstStyle>
          <a:p>
            <a:r>
              <a:rPr lang="de-DE" b="0" dirty="0" err="1"/>
              <a:t>Visit</a:t>
            </a:r>
            <a:r>
              <a:rPr lang="de-DE" b="0" dirty="0"/>
              <a:t> </a:t>
            </a:r>
            <a:r>
              <a:rPr lang="de-DE" b="0" dirty="0" err="1"/>
              <a:t>Our</a:t>
            </a:r>
            <a:r>
              <a:rPr lang="de-DE" b="0" dirty="0"/>
              <a:t> Website</a:t>
            </a:r>
            <a:endParaRPr lang="en-GB" b="0" dirty="0"/>
          </a:p>
        </p:txBody>
      </p:sp>
      <p:grpSp>
        <p:nvGrpSpPr>
          <p:cNvPr id="17" name="Group 16">
            <a:extLst>
              <a:ext uri="{FF2B5EF4-FFF2-40B4-BE49-F238E27FC236}">
                <a16:creationId xmlns:a16="http://schemas.microsoft.com/office/drawing/2014/main" id="{46F50A3C-3E91-D84E-FB0B-ADE22EB40F5A}"/>
              </a:ext>
            </a:extLst>
          </p:cNvPr>
          <p:cNvGrpSpPr/>
          <p:nvPr/>
        </p:nvGrpSpPr>
        <p:grpSpPr>
          <a:xfrm>
            <a:off x="289935" y="5989894"/>
            <a:ext cx="1066288" cy="652041"/>
            <a:chOff x="10634098" y="5547241"/>
            <a:chExt cx="1066288" cy="652041"/>
          </a:xfrm>
        </p:grpSpPr>
        <p:sp>
          <p:nvSpPr>
            <p:cNvPr id="14" name="Rectangle 13">
              <a:extLst>
                <a:ext uri="{FF2B5EF4-FFF2-40B4-BE49-F238E27FC236}">
                  <a16:creationId xmlns:a16="http://schemas.microsoft.com/office/drawing/2014/main" id="{10FEBE09-F37B-2FE4-A43A-0C5E889D02C4}"/>
                </a:ext>
              </a:extLst>
            </p:cNvPr>
            <p:cNvSpPr/>
            <p:nvPr/>
          </p:nvSpPr>
          <p:spPr>
            <a:xfrm>
              <a:off x="10735918" y="5547241"/>
              <a:ext cx="881595" cy="652041"/>
            </a:xfrm>
            <a:prstGeom prst="rect">
              <a:avLst/>
            </a:prstGeom>
            <a:solidFill>
              <a:srgbClr val="F9FB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84F6B56F-A066-FC41-D7F0-5FE25D677BDF}"/>
                </a:ext>
              </a:extLst>
            </p:cNvPr>
            <p:cNvGrpSpPr/>
            <p:nvPr/>
          </p:nvGrpSpPr>
          <p:grpSpPr>
            <a:xfrm>
              <a:off x="10634098" y="5550237"/>
              <a:ext cx="1066288" cy="649045"/>
              <a:chOff x="10699395" y="5068431"/>
              <a:chExt cx="1066288" cy="649045"/>
            </a:xfrm>
          </p:grpSpPr>
          <p:sp>
            <p:nvSpPr>
              <p:cNvPr id="7" name="Freeform: Shape 6">
                <a:extLst>
                  <a:ext uri="{FF2B5EF4-FFF2-40B4-BE49-F238E27FC236}">
                    <a16:creationId xmlns:a16="http://schemas.microsoft.com/office/drawing/2014/main" id="{3A099A3E-6A4F-7E32-5DB4-4DC342D9F807}"/>
                  </a:ext>
                </a:extLst>
              </p:cNvPr>
              <p:cNvSpPr/>
              <p:nvPr/>
            </p:nvSpPr>
            <p:spPr>
              <a:xfrm>
                <a:off x="10838476" y="5068431"/>
                <a:ext cx="788126" cy="533144"/>
              </a:xfrm>
              <a:custGeom>
                <a:avLst/>
                <a:gdLst>
                  <a:gd name="connsiteX0" fmla="*/ 718586 w 788126"/>
                  <a:gd name="connsiteY0" fmla="*/ 463604 h 533144"/>
                  <a:gd name="connsiteX1" fmla="*/ 69541 w 788126"/>
                  <a:gd name="connsiteY1" fmla="*/ 463604 h 533144"/>
                  <a:gd name="connsiteX2" fmla="*/ 69541 w 788126"/>
                  <a:gd name="connsiteY2" fmla="*/ 69541 h 533144"/>
                  <a:gd name="connsiteX3" fmla="*/ 718586 w 788126"/>
                  <a:gd name="connsiteY3" fmla="*/ 69541 h 533144"/>
                  <a:gd name="connsiteX4" fmla="*/ 788126 w 788126"/>
                  <a:gd name="connsiteY4" fmla="*/ 46360 h 533144"/>
                  <a:gd name="connsiteX5" fmla="*/ 741766 w 788126"/>
                  <a:gd name="connsiteY5" fmla="*/ 0 h 533144"/>
                  <a:gd name="connsiteX6" fmla="*/ 46360 w 788126"/>
                  <a:gd name="connsiteY6" fmla="*/ 0 h 533144"/>
                  <a:gd name="connsiteX7" fmla="*/ 0 w 788126"/>
                  <a:gd name="connsiteY7" fmla="*/ 46360 h 533144"/>
                  <a:gd name="connsiteX8" fmla="*/ 0 w 788126"/>
                  <a:gd name="connsiteY8" fmla="*/ 533144 h 533144"/>
                  <a:gd name="connsiteX9" fmla="*/ 788126 w 788126"/>
                  <a:gd name="connsiteY9" fmla="*/ 533144 h 53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8126" h="533144">
                    <a:moveTo>
                      <a:pt x="718586" y="463604"/>
                    </a:moveTo>
                    <a:lnTo>
                      <a:pt x="69541" y="463604"/>
                    </a:lnTo>
                    <a:lnTo>
                      <a:pt x="69541" y="69541"/>
                    </a:lnTo>
                    <a:lnTo>
                      <a:pt x="718586" y="69541"/>
                    </a:lnTo>
                    <a:close/>
                    <a:moveTo>
                      <a:pt x="788126" y="46360"/>
                    </a:moveTo>
                    <a:cubicBezTo>
                      <a:pt x="788126" y="20757"/>
                      <a:pt x="767370" y="0"/>
                      <a:pt x="741766" y="0"/>
                    </a:cubicBezTo>
                    <a:lnTo>
                      <a:pt x="46360" y="0"/>
                    </a:lnTo>
                    <a:cubicBezTo>
                      <a:pt x="20757" y="0"/>
                      <a:pt x="0" y="20757"/>
                      <a:pt x="0" y="46360"/>
                    </a:cubicBezTo>
                    <a:lnTo>
                      <a:pt x="0" y="533144"/>
                    </a:lnTo>
                    <a:lnTo>
                      <a:pt x="788126" y="533144"/>
                    </a:lnTo>
                    <a:close/>
                  </a:path>
                </a:pathLst>
              </a:custGeom>
              <a:solidFill>
                <a:srgbClr val="225982"/>
              </a:solidFill>
              <a:ln w="11509"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2ABA6316-2A7F-916D-A483-43F72C95FA6E}"/>
                  </a:ext>
                </a:extLst>
              </p:cNvPr>
              <p:cNvSpPr/>
              <p:nvPr/>
            </p:nvSpPr>
            <p:spPr>
              <a:xfrm>
                <a:off x="10699395" y="5647936"/>
                <a:ext cx="1066288" cy="69540"/>
              </a:xfrm>
              <a:custGeom>
                <a:avLst/>
                <a:gdLst>
                  <a:gd name="connsiteX0" fmla="*/ 602685 w 1066288"/>
                  <a:gd name="connsiteY0" fmla="*/ 0 h 69540"/>
                  <a:gd name="connsiteX1" fmla="*/ 602685 w 1066288"/>
                  <a:gd name="connsiteY1" fmla="*/ 11590 h 69540"/>
                  <a:gd name="connsiteX2" fmla="*/ 592533 w 1066288"/>
                  <a:gd name="connsiteY2" fmla="*/ 23180 h 69540"/>
                  <a:gd name="connsiteX3" fmla="*/ 591095 w 1066288"/>
                  <a:gd name="connsiteY3" fmla="*/ 23180 h 69540"/>
                  <a:gd name="connsiteX4" fmla="*/ 475194 w 1066288"/>
                  <a:gd name="connsiteY4" fmla="*/ 23180 h 69540"/>
                  <a:gd name="connsiteX5" fmla="*/ 463604 w 1066288"/>
                  <a:gd name="connsiteY5" fmla="*/ 13028 h 69540"/>
                  <a:gd name="connsiteX6" fmla="*/ 463604 w 1066288"/>
                  <a:gd name="connsiteY6" fmla="*/ 11590 h 69540"/>
                  <a:gd name="connsiteX7" fmla="*/ 463604 w 1066288"/>
                  <a:gd name="connsiteY7" fmla="*/ 0 h 69540"/>
                  <a:gd name="connsiteX8" fmla="*/ 0 w 1066288"/>
                  <a:gd name="connsiteY8" fmla="*/ 0 h 69540"/>
                  <a:gd name="connsiteX9" fmla="*/ 0 w 1066288"/>
                  <a:gd name="connsiteY9" fmla="*/ 23180 h 69540"/>
                  <a:gd name="connsiteX10" fmla="*/ 46360 w 1066288"/>
                  <a:gd name="connsiteY10" fmla="*/ 69541 h 69540"/>
                  <a:gd name="connsiteX11" fmla="*/ 1019928 w 1066288"/>
                  <a:gd name="connsiteY11" fmla="*/ 69541 h 69540"/>
                  <a:gd name="connsiteX12" fmla="*/ 1066289 w 1066288"/>
                  <a:gd name="connsiteY12" fmla="*/ 23180 h 69540"/>
                  <a:gd name="connsiteX13" fmla="*/ 1066289 w 1066288"/>
                  <a:gd name="connsiteY13" fmla="*/ 0 h 6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6288" h="69540">
                    <a:moveTo>
                      <a:pt x="602685" y="0"/>
                    </a:moveTo>
                    <a:lnTo>
                      <a:pt x="602685" y="11590"/>
                    </a:lnTo>
                    <a:cubicBezTo>
                      <a:pt x="603082" y="17594"/>
                      <a:pt x="598537" y="22783"/>
                      <a:pt x="592533" y="23180"/>
                    </a:cubicBezTo>
                    <a:cubicBezTo>
                      <a:pt x="592054" y="23211"/>
                      <a:pt x="591574" y="23211"/>
                      <a:pt x="591095" y="23180"/>
                    </a:cubicBezTo>
                    <a:lnTo>
                      <a:pt x="475194" y="23180"/>
                    </a:lnTo>
                    <a:cubicBezTo>
                      <a:pt x="469190" y="23578"/>
                      <a:pt x="464001" y="19032"/>
                      <a:pt x="463604" y="13028"/>
                    </a:cubicBezTo>
                    <a:cubicBezTo>
                      <a:pt x="463572" y="12550"/>
                      <a:pt x="463572" y="12069"/>
                      <a:pt x="463604" y="11590"/>
                    </a:cubicBezTo>
                    <a:lnTo>
                      <a:pt x="463604" y="0"/>
                    </a:lnTo>
                    <a:lnTo>
                      <a:pt x="0" y="0"/>
                    </a:lnTo>
                    <a:lnTo>
                      <a:pt x="0" y="23180"/>
                    </a:lnTo>
                    <a:cubicBezTo>
                      <a:pt x="0" y="48784"/>
                      <a:pt x="20756" y="69541"/>
                      <a:pt x="46360" y="69541"/>
                    </a:cubicBezTo>
                    <a:lnTo>
                      <a:pt x="1019928" y="69541"/>
                    </a:lnTo>
                    <a:cubicBezTo>
                      <a:pt x="1045532" y="69541"/>
                      <a:pt x="1066289" y="48784"/>
                      <a:pt x="1066289" y="23180"/>
                    </a:cubicBezTo>
                    <a:lnTo>
                      <a:pt x="1066289" y="0"/>
                    </a:lnTo>
                    <a:close/>
                  </a:path>
                </a:pathLst>
              </a:custGeom>
              <a:solidFill>
                <a:srgbClr val="8FC64A"/>
              </a:solidFill>
              <a:ln w="11509"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C1A8F671-5565-B8A7-770E-A57D1D0FAF68}"/>
                  </a:ext>
                </a:extLst>
              </p:cNvPr>
              <p:cNvSpPr/>
              <p:nvPr/>
            </p:nvSpPr>
            <p:spPr>
              <a:xfrm>
                <a:off x="11070278" y="5172742"/>
                <a:ext cx="324522" cy="324522"/>
              </a:xfrm>
              <a:custGeom>
                <a:avLst/>
                <a:gdLst>
                  <a:gd name="connsiteX0" fmla="*/ 162261 w 324522"/>
                  <a:gd name="connsiteY0" fmla="*/ 0 h 324522"/>
                  <a:gd name="connsiteX1" fmla="*/ 0 w 324522"/>
                  <a:gd name="connsiteY1" fmla="*/ 162261 h 324522"/>
                  <a:gd name="connsiteX2" fmla="*/ 162261 w 324522"/>
                  <a:gd name="connsiteY2" fmla="*/ 324523 h 324522"/>
                  <a:gd name="connsiteX3" fmla="*/ 324523 w 324522"/>
                  <a:gd name="connsiteY3" fmla="*/ 162261 h 324522"/>
                  <a:gd name="connsiteX4" fmla="*/ 162261 w 324522"/>
                  <a:gd name="connsiteY4" fmla="*/ 0 h 324522"/>
                  <a:gd name="connsiteX5" fmla="*/ 173851 w 324522"/>
                  <a:gd name="connsiteY5" fmla="*/ 173851 h 324522"/>
                  <a:gd name="connsiteX6" fmla="*/ 227050 w 324522"/>
                  <a:gd name="connsiteY6" fmla="*/ 173851 h 324522"/>
                  <a:gd name="connsiteX7" fmla="*/ 173851 w 324522"/>
                  <a:gd name="connsiteY7" fmla="*/ 279437 h 324522"/>
                  <a:gd name="connsiteX8" fmla="*/ 173851 w 324522"/>
                  <a:gd name="connsiteY8" fmla="*/ 150671 h 324522"/>
                  <a:gd name="connsiteX9" fmla="*/ 173851 w 324522"/>
                  <a:gd name="connsiteY9" fmla="*/ 44970 h 324522"/>
                  <a:gd name="connsiteX10" fmla="*/ 227050 w 324522"/>
                  <a:gd name="connsiteY10" fmla="*/ 150671 h 324522"/>
                  <a:gd name="connsiteX11" fmla="*/ 150671 w 324522"/>
                  <a:gd name="connsiteY11" fmla="*/ 150671 h 324522"/>
                  <a:gd name="connsiteX12" fmla="*/ 99211 w 324522"/>
                  <a:gd name="connsiteY12" fmla="*/ 150671 h 324522"/>
                  <a:gd name="connsiteX13" fmla="*/ 150671 w 324522"/>
                  <a:gd name="connsiteY13" fmla="*/ 46360 h 324522"/>
                  <a:gd name="connsiteX14" fmla="*/ 150671 w 324522"/>
                  <a:gd name="connsiteY14" fmla="*/ 173851 h 324522"/>
                  <a:gd name="connsiteX15" fmla="*/ 150671 w 324522"/>
                  <a:gd name="connsiteY15" fmla="*/ 278162 h 324522"/>
                  <a:gd name="connsiteX16" fmla="*/ 99211 w 324522"/>
                  <a:gd name="connsiteY16" fmla="*/ 173851 h 324522"/>
                  <a:gd name="connsiteX17" fmla="*/ 75915 w 324522"/>
                  <a:gd name="connsiteY17" fmla="*/ 150671 h 324522"/>
                  <a:gd name="connsiteX18" fmla="*/ 26310 w 324522"/>
                  <a:gd name="connsiteY18" fmla="*/ 150671 h 324522"/>
                  <a:gd name="connsiteX19" fmla="*/ 136068 w 324522"/>
                  <a:gd name="connsiteY19" fmla="*/ 28396 h 324522"/>
                  <a:gd name="connsiteX20" fmla="*/ 75915 w 324522"/>
                  <a:gd name="connsiteY20" fmla="*/ 150671 h 324522"/>
                  <a:gd name="connsiteX21" fmla="*/ 75915 w 324522"/>
                  <a:gd name="connsiteY21" fmla="*/ 173851 h 324522"/>
                  <a:gd name="connsiteX22" fmla="*/ 136299 w 324522"/>
                  <a:gd name="connsiteY22" fmla="*/ 296243 h 324522"/>
                  <a:gd name="connsiteX23" fmla="*/ 26310 w 324522"/>
                  <a:gd name="connsiteY23" fmla="*/ 173851 h 324522"/>
                  <a:gd name="connsiteX24" fmla="*/ 250346 w 324522"/>
                  <a:gd name="connsiteY24" fmla="*/ 173851 h 324522"/>
                  <a:gd name="connsiteX25" fmla="*/ 298213 w 324522"/>
                  <a:gd name="connsiteY25" fmla="*/ 173851 h 324522"/>
                  <a:gd name="connsiteX26" fmla="*/ 190309 w 324522"/>
                  <a:gd name="connsiteY26" fmla="*/ 295779 h 324522"/>
                  <a:gd name="connsiteX27" fmla="*/ 250346 w 324522"/>
                  <a:gd name="connsiteY27" fmla="*/ 173851 h 324522"/>
                  <a:gd name="connsiteX28" fmla="*/ 250346 w 324522"/>
                  <a:gd name="connsiteY28" fmla="*/ 150671 h 324522"/>
                  <a:gd name="connsiteX29" fmla="*/ 190657 w 324522"/>
                  <a:gd name="connsiteY29" fmla="*/ 28859 h 324522"/>
                  <a:gd name="connsiteX30" fmla="*/ 298213 w 324522"/>
                  <a:gd name="connsiteY30" fmla="*/ 150671 h 324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24522" h="324522">
                    <a:moveTo>
                      <a:pt x="162261" y="0"/>
                    </a:moveTo>
                    <a:cubicBezTo>
                      <a:pt x="72647" y="0"/>
                      <a:pt x="0" y="72647"/>
                      <a:pt x="0" y="162261"/>
                    </a:cubicBezTo>
                    <a:cubicBezTo>
                      <a:pt x="0" y="251876"/>
                      <a:pt x="72647" y="324523"/>
                      <a:pt x="162261" y="324523"/>
                    </a:cubicBezTo>
                    <a:cubicBezTo>
                      <a:pt x="251876" y="324523"/>
                      <a:pt x="324523" y="251876"/>
                      <a:pt x="324523" y="162261"/>
                    </a:cubicBezTo>
                    <a:cubicBezTo>
                      <a:pt x="324523" y="72647"/>
                      <a:pt x="251876" y="0"/>
                      <a:pt x="162261" y="0"/>
                    </a:cubicBezTo>
                    <a:close/>
                    <a:moveTo>
                      <a:pt x="173851" y="173851"/>
                    </a:moveTo>
                    <a:lnTo>
                      <a:pt x="227050" y="173851"/>
                    </a:lnTo>
                    <a:cubicBezTo>
                      <a:pt x="220992" y="213807"/>
                      <a:pt x="202357" y="250792"/>
                      <a:pt x="173851" y="279437"/>
                    </a:cubicBezTo>
                    <a:close/>
                    <a:moveTo>
                      <a:pt x="173851" y="150671"/>
                    </a:moveTo>
                    <a:lnTo>
                      <a:pt x="173851" y="44970"/>
                    </a:lnTo>
                    <a:cubicBezTo>
                      <a:pt x="202386" y="73641"/>
                      <a:pt x="221023" y="110672"/>
                      <a:pt x="227050" y="150671"/>
                    </a:cubicBezTo>
                    <a:close/>
                    <a:moveTo>
                      <a:pt x="150671" y="150671"/>
                    </a:moveTo>
                    <a:lnTo>
                      <a:pt x="99211" y="150671"/>
                    </a:lnTo>
                    <a:cubicBezTo>
                      <a:pt x="104975" y="111356"/>
                      <a:pt x="122981" y="74858"/>
                      <a:pt x="150671" y="46360"/>
                    </a:cubicBezTo>
                    <a:close/>
                    <a:moveTo>
                      <a:pt x="150671" y="173851"/>
                    </a:moveTo>
                    <a:lnTo>
                      <a:pt x="150671" y="278162"/>
                    </a:lnTo>
                    <a:cubicBezTo>
                      <a:pt x="123033" y="249627"/>
                      <a:pt x="105035" y="213148"/>
                      <a:pt x="99211" y="173851"/>
                    </a:cubicBezTo>
                    <a:close/>
                    <a:moveTo>
                      <a:pt x="75915" y="150671"/>
                    </a:moveTo>
                    <a:lnTo>
                      <a:pt x="26310" y="150671"/>
                    </a:lnTo>
                    <a:cubicBezTo>
                      <a:pt x="31454" y="89962"/>
                      <a:pt x="76265" y="40043"/>
                      <a:pt x="136068" y="28396"/>
                    </a:cubicBezTo>
                    <a:cubicBezTo>
                      <a:pt x="103027" y="61366"/>
                      <a:pt x="81869" y="104375"/>
                      <a:pt x="75915" y="150671"/>
                    </a:cubicBezTo>
                    <a:close/>
                    <a:moveTo>
                      <a:pt x="75915" y="173851"/>
                    </a:moveTo>
                    <a:cubicBezTo>
                      <a:pt x="81874" y="220228"/>
                      <a:pt x="103122" y="263296"/>
                      <a:pt x="136299" y="296243"/>
                    </a:cubicBezTo>
                    <a:cubicBezTo>
                      <a:pt x="76408" y="284604"/>
                      <a:pt x="31508" y="234641"/>
                      <a:pt x="26310" y="173851"/>
                    </a:cubicBezTo>
                    <a:close/>
                    <a:moveTo>
                      <a:pt x="250346" y="173851"/>
                    </a:moveTo>
                    <a:lnTo>
                      <a:pt x="298213" y="173851"/>
                    </a:lnTo>
                    <a:cubicBezTo>
                      <a:pt x="293138" y="233872"/>
                      <a:pt x="249268" y="283444"/>
                      <a:pt x="190309" y="295779"/>
                    </a:cubicBezTo>
                    <a:cubicBezTo>
                      <a:pt x="223333" y="262951"/>
                      <a:pt x="244461" y="220043"/>
                      <a:pt x="250346" y="173851"/>
                    </a:cubicBezTo>
                    <a:close/>
                    <a:moveTo>
                      <a:pt x="250346" y="150671"/>
                    </a:moveTo>
                    <a:cubicBezTo>
                      <a:pt x="244413" y="104601"/>
                      <a:pt x="223429" y="61779"/>
                      <a:pt x="190657" y="28859"/>
                    </a:cubicBezTo>
                    <a:cubicBezTo>
                      <a:pt x="249441" y="41316"/>
                      <a:pt x="293131" y="90798"/>
                      <a:pt x="298213" y="150671"/>
                    </a:cubicBezTo>
                    <a:close/>
                  </a:path>
                </a:pathLst>
              </a:custGeom>
              <a:solidFill>
                <a:srgbClr val="8FC64A"/>
              </a:solidFill>
              <a:ln w="11509" cap="flat">
                <a:noFill/>
                <a:prstDash val="solid"/>
                <a:miter/>
              </a:ln>
            </p:spPr>
            <p:txBody>
              <a:bodyPr rtlCol="0" anchor="ctr"/>
              <a:lstStyle/>
              <a:p>
                <a:endParaRPr lang="en-GB"/>
              </a:p>
            </p:txBody>
          </p:sp>
        </p:grpSp>
      </p:grpSp>
      <p:sp>
        <p:nvSpPr>
          <p:cNvPr id="21" name="TextBox 20">
            <a:extLst>
              <a:ext uri="{FF2B5EF4-FFF2-40B4-BE49-F238E27FC236}">
                <a16:creationId xmlns:a16="http://schemas.microsoft.com/office/drawing/2014/main" id="{4E2DA4B8-2AB7-F7D3-1C28-A10A0B07A367}"/>
              </a:ext>
            </a:extLst>
          </p:cNvPr>
          <p:cNvSpPr txBox="1"/>
          <p:nvPr/>
        </p:nvSpPr>
        <p:spPr>
          <a:xfrm>
            <a:off x="1412856" y="6177613"/>
            <a:ext cx="3464703" cy="461665"/>
          </a:xfrm>
          <a:prstGeom prst="rect">
            <a:avLst/>
          </a:prstGeom>
          <a:noFill/>
        </p:spPr>
        <p:txBody>
          <a:bodyPr wrap="square">
            <a:spAutoFit/>
          </a:bodyPr>
          <a:lstStyle>
            <a:defPPr>
              <a:defRPr lang="de-DE"/>
            </a:defPPr>
            <a:lvl1pPr>
              <a:defRPr b="1" i="0" u="none" strike="noStrike">
                <a:solidFill>
                  <a:srgbClr val="225982"/>
                </a:solidFill>
                <a:effectLst/>
              </a:defRPr>
            </a:lvl1pPr>
          </a:lstStyle>
          <a:p>
            <a:r>
              <a:rPr lang="en-GB" sz="2400" dirty="0"/>
              <a:t>nfdi4cat.org</a:t>
            </a:r>
          </a:p>
        </p:txBody>
      </p:sp>
      <p:sp>
        <p:nvSpPr>
          <p:cNvPr id="20" name="TextBox 19">
            <a:extLst>
              <a:ext uri="{FF2B5EF4-FFF2-40B4-BE49-F238E27FC236}">
                <a16:creationId xmlns:a16="http://schemas.microsoft.com/office/drawing/2014/main" id="{080248D2-D22F-4446-B4DC-78198B68D799}"/>
              </a:ext>
            </a:extLst>
          </p:cNvPr>
          <p:cNvSpPr txBox="1"/>
          <p:nvPr/>
        </p:nvSpPr>
        <p:spPr>
          <a:xfrm>
            <a:off x="6883158" y="5893055"/>
            <a:ext cx="5117499" cy="830997"/>
          </a:xfrm>
          <a:prstGeom prst="rect">
            <a:avLst/>
          </a:prstGeom>
          <a:noFill/>
        </p:spPr>
        <p:txBody>
          <a:bodyPr wrap="square">
            <a:spAutoFit/>
          </a:bodyPr>
          <a:lstStyle>
            <a:defPPr>
              <a:defRPr lang="de-DE"/>
            </a:defPPr>
            <a:lvl1pPr>
              <a:defRPr b="1" i="1">
                <a:solidFill>
                  <a:srgbClr val="005D7E"/>
                </a:solidFill>
                <a:effectLst/>
              </a:defRPr>
            </a:lvl1pPr>
          </a:lstStyle>
          <a:p>
            <a:pPr algn="r"/>
            <a:r>
              <a:rPr lang="en-GB" sz="2400" dirty="0">
                <a:solidFill>
                  <a:srgbClr val="8DBF22"/>
                </a:solidFill>
              </a:rPr>
              <a:t>Presented by: Hendrik Borgelt</a:t>
            </a:r>
            <a:br>
              <a:rPr lang="en-GB" sz="2400" dirty="0">
                <a:solidFill>
                  <a:srgbClr val="8DBF22"/>
                </a:solidFill>
              </a:rPr>
            </a:br>
            <a:r>
              <a:rPr lang="en-GB" sz="2400" dirty="0">
                <a:solidFill>
                  <a:srgbClr val="8DBF22"/>
                </a:solidFill>
              </a:rPr>
              <a:t>Hendrik.Borgelt@tu-Dortmund.de</a:t>
            </a:r>
          </a:p>
        </p:txBody>
      </p:sp>
      <p:sp>
        <p:nvSpPr>
          <p:cNvPr id="5" name="TextBox 4">
            <a:extLst>
              <a:ext uri="{FF2B5EF4-FFF2-40B4-BE49-F238E27FC236}">
                <a16:creationId xmlns:a16="http://schemas.microsoft.com/office/drawing/2014/main" id="{DA20AB80-F2D8-BD2A-EB5E-B4E7A22D5E2F}"/>
              </a:ext>
            </a:extLst>
          </p:cNvPr>
          <p:cNvSpPr txBox="1"/>
          <p:nvPr/>
        </p:nvSpPr>
        <p:spPr>
          <a:xfrm>
            <a:off x="5734814" y="4728386"/>
            <a:ext cx="6265843" cy="461665"/>
          </a:xfrm>
          <a:prstGeom prst="rect">
            <a:avLst/>
          </a:prstGeom>
          <a:noFill/>
        </p:spPr>
        <p:txBody>
          <a:bodyPr wrap="square">
            <a:spAutoFit/>
          </a:bodyPr>
          <a:lstStyle>
            <a:defPPr>
              <a:defRPr lang="de-DE"/>
            </a:defPPr>
            <a:lvl1pPr>
              <a:defRPr b="1" i="1">
                <a:solidFill>
                  <a:srgbClr val="005D7E"/>
                </a:solidFill>
                <a:effectLst/>
              </a:defRPr>
            </a:lvl1pPr>
          </a:lstStyle>
          <a:p>
            <a:pPr algn="r"/>
            <a:r>
              <a:rPr lang="de-DE" sz="2400" dirty="0">
                <a:solidFill>
                  <a:srgbClr val="8DBF22"/>
                </a:solidFill>
              </a:rPr>
              <a:t>Joint Data Spaces </a:t>
            </a:r>
            <a:r>
              <a:rPr lang="de-DE" sz="2400" dirty="0" err="1">
                <a:solidFill>
                  <a:srgbClr val="8DBF22"/>
                </a:solidFill>
              </a:rPr>
              <a:t>for</a:t>
            </a:r>
            <a:r>
              <a:rPr lang="de-DE" sz="2400" dirty="0">
                <a:solidFill>
                  <a:srgbClr val="8DBF22"/>
                </a:solidFill>
              </a:rPr>
              <a:t> </a:t>
            </a:r>
            <a:r>
              <a:rPr lang="de-DE" sz="2400" dirty="0" err="1">
                <a:solidFill>
                  <a:srgbClr val="8DBF22"/>
                </a:solidFill>
              </a:rPr>
              <a:t>Catalysis-related</a:t>
            </a:r>
            <a:r>
              <a:rPr lang="de-DE" sz="2400" dirty="0">
                <a:solidFill>
                  <a:srgbClr val="8DBF22"/>
                </a:solidFill>
              </a:rPr>
              <a:t> Sciences</a:t>
            </a:r>
            <a:endParaRPr lang="en-GB" sz="2400" dirty="0">
              <a:solidFill>
                <a:srgbClr val="8DBF22"/>
              </a:solidFill>
            </a:endParaRPr>
          </a:p>
        </p:txBody>
      </p:sp>
    </p:spTree>
    <p:extLst>
      <p:ext uri="{BB962C8B-B14F-4D97-AF65-F5344CB8AC3E}">
        <p14:creationId xmlns:p14="http://schemas.microsoft.com/office/powerpoint/2010/main" val="2828336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D5FCFF05-35E2-4FCB-945F-D06316E15A33}"/>
              </a:ext>
            </a:extLst>
          </p:cNvPr>
          <p:cNvSpPr>
            <a:spLocks noGrp="1"/>
          </p:cNvSpPr>
          <p:nvPr>
            <p:ph type="title"/>
          </p:nvPr>
        </p:nvSpPr>
        <p:spPr/>
        <p:txBody>
          <a:bodyPr/>
          <a:lstStyle/>
          <a:p>
            <a:r>
              <a:rPr lang="en-US" dirty="0" err="1"/>
              <a:t>Kleine</a:t>
            </a:r>
            <a:r>
              <a:rPr lang="en-US" dirty="0"/>
              <a:t> </a:t>
            </a:r>
            <a:r>
              <a:rPr lang="en-US" dirty="0" err="1"/>
              <a:t>Ergebnisdokumentation</a:t>
            </a:r>
            <a:endParaRPr lang="en-US" dirty="0"/>
          </a:p>
        </p:txBody>
      </p:sp>
      <p:sp>
        <p:nvSpPr>
          <p:cNvPr id="6" name="Inhaltsplatzhalter 5">
            <a:extLst>
              <a:ext uri="{FF2B5EF4-FFF2-40B4-BE49-F238E27FC236}">
                <a16:creationId xmlns:a16="http://schemas.microsoft.com/office/drawing/2014/main" id="{61B94DE6-7D74-469F-8952-9F318888EE9D}"/>
              </a:ext>
            </a:extLst>
          </p:cNvPr>
          <p:cNvSpPr>
            <a:spLocks noGrp="1"/>
          </p:cNvSpPr>
          <p:nvPr>
            <p:ph idx="1"/>
          </p:nvPr>
        </p:nvSpPr>
        <p:spPr/>
        <p:txBody>
          <a:bodyPr/>
          <a:lstStyle/>
          <a:p>
            <a:r>
              <a:rPr lang="de-DE" dirty="0"/>
              <a:t>In </a:t>
            </a:r>
            <a:r>
              <a:rPr lang="de-DE" dirty="0" err="1"/>
              <a:t>persona</a:t>
            </a:r>
            <a:r>
              <a:rPr lang="de-DE" dirty="0"/>
              <a:t> sollen die Ergebnisse noch einmal im Detail vorgestellt werden. Dies soll nur eine kleine Präsentation sein, damit die Ergebnisse schon mal selbst gesichtet werden können.</a:t>
            </a:r>
          </a:p>
          <a:p>
            <a:endParaRPr lang="de-DE" dirty="0"/>
          </a:p>
          <a:p>
            <a:endParaRPr lang="de-DE" dirty="0"/>
          </a:p>
        </p:txBody>
      </p:sp>
      <p:sp>
        <p:nvSpPr>
          <p:cNvPr id="4" name="Datumsplatzhalter 3">
            <a:extLst>
              <a:ext uri="{FF2B5EF4-FFF2-40B4-BE49-F238E27FC236}">
                <a16:creationId xmlns:a16="http://schemas.microsoft.com/office/drawing/2014/main" id="{F7645FAE-FA8D-420D-ACD0-BCA339EB225D}"/>
              </a:ext>
            </a:extLst>
          </p:cNvPr>
          <p:cNvSpPr>
            <a:spLocks noGrp="1"/>
          </p:cNvSpPr>
          <p:nvPr>
            <p:ph type="dt" sz="half" idx="2"/>
          </p:nvPr>
        </p:nvSpPr>
        <p:spPr/>
        <p:txBody>
          <a:bodyPr/>
          <a:lstStyle/>
          <a:p>
            <a:fld id="{C2A185E1-2225-4DF2-A3BC-57B9D0FBB7FF}" type="datetime1">
              <a:rPr lang="en-GB" smtClean="0"/>
              <a:t>29/10/2025</a:t>
            </a:fld>
            <a:endParaRPr lang="en-GB"/>
          </a:p>
        </p:txBody>
      </p:sp>
    </p:spTree>
    <p:extLst>
      <p:ext uri="{BB962C8B-B14F-4D97-AF65-F5344CB8AC3E}">
        <p14:creationId xmlns:p14="http://schemas.microsoft.com/office/powerpoint/2010/main" val="2845903370"/>
      </p:ext>
    </p:extLst>
  </p:cSld>
  <p:clrMapOvr>
    <a:masterClrMapping/>
  </p:clrMapOvr>
  <p:transition spd="med">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3770-8B19-15D0-E7DD-563AD06B7620}"/>
              </a:ext>
            </a:extLst>
          </p:cNvPr>
          <p:cNvSpPr>
            <a:spLocks noGrp="1"/>
          </p:cNvSpPr>
          <p:nvPr>
            <p:ph type="title"/>
          </p:nvPr>
        </p:nvSpPr>
        <p:spPr>
          <a:xfrm>
            <a:off x="1172641" y="384830"/>
            <a:ext cx="9218240" cy="720000"/>
          </a:xfrm>
        </p:spPr>
        <p:txBody>
          <a:bodyPr>
            <a:normAutofit/>
          </a:bodyPr>
          <a:lstStyle/>
          <a:p>
            <a:r>
              <a:rPr lang="de-DE" sz="4000" dirty="0"/>
              <a:t>Motivation für NFDI</a:t>
            </a:r>
            <a:r>
              <a:rPr lang="de-DE" sz="4000" dirty="0">
                <a:solidFill>
                  <a:srgbClr val="8FC73E"/>
                </a:solidFill>
              </a:rPr>
              <a:t>4</a:t>
            </a:r>
            <a:r>
              <a:rPr lang="de-DE" sz="4000" dirty="0">
                <a:solidFill>
                  <a:srgbClr val="005D7E"/>
                </a:solidFill>
              </a:rPr>
              <a:t>Cat</a:t>
            </a:r>
            <a:endParaRPr lang="en-GB" dirty="0"/>
          </a:p>
        </p:txBody>
      </p:sp>
      <p:sp>
        <p:nvSpPr>
          <p:cNvPr id="113" name="TextBox 112">
            <a:extLst>
              <a:ext uri="{FF2B5EF4-FFF2-40B4-BE49-F238E27FC236}">
                <a16:creationId xmlns:a16="http://schemas.microsoft.com/office/drawing/2014/main" id="{274161A4-BE1B-CDCD-64F8-B5F181DB9876}"/>
              </a:ext>
            </a:extLst>
          </p:cNvPr>
          <p:cNvSpPr txBox="1">
            <a:spLocks/>
          </p:cNvSpPr>
          <p:nvPr/>
        </p:nvSpPr>
        <p:spPr>
          <a:xfrm>
            <a:off x="317131" y="1260570"/>
            <a:ext cx="864096" cy="461665"/>
          </a:xfrm>
          <a:prstGeom prst="rect">
            <a:avLst/>
          </a:prstGeom>
          <a:noFill/>
        </p:spPr>
        <p:txBody>
          <a:bodyPr wrap="square" rtlCol="0">
            <a:spAutoFit/>
          </a:bodyPr>
          <a:lstStyle/>
          <a:p>
            <a:r>
              <a:rPr lang="de-DE" sz="2400" b="1" dirty="0">
                <a:solidFill>
                  <a:schemeClr val="bg1"/>
                </a:solidFill>
              </a:rPr>
              <a:t>2.0</a:t>
            </a:r>
            <a:endParaRPr lang="en-GB" sz="2400" b="1" dirty="0">
              <a:solidFill>
                <a:schemeClr val="bg1"/>
              </a:solidFill>
            </a:endParaRPr>
          </a:p>
        </p:txBody>
      </p:sp>
      <p:sp>
        <p:nvSpPr>
          <p:cNvPr id="3" name="Textfeld 2">
            <a:extLst>
              <a:ext uri="{FF2B5EF4-FFF2-40B4-BE49-F238E27FC236}">
                <a16:creationId xmlns:a16="http://schemas.microsoft.com/office/drawing/2014/main" id="{888DC4B9-5F93-4C8E-B4B6-2199CF4274D1}"/>
              </a:ext>
            </a:extLst>
          </p:cNvPr>
          <p:cNvSpPr txBox="1"/>
          <p:nvPr/>
        </p:nvSpPr>
        <p:spPr>
          <a:xfrm>
            <a:off x="4786149" y="1168636"/>
            <a:ext cx="3168549" cy="5324535"/>
          </a:xfrm>
          <a:prstGeom prst="rect">
            <a:avLst/>
          </a:prstGeom>
          <a:noFill/>
        </p:spPr>
        <p:txBody>
          <a:bodyPr wrap="square" rtlCol="0">
            <a:spAutoFit/>
          </a:bodyPr>
          <a:lstStyle/>
          <a:p>
            <a:pPr marL="285750" indent="-285750">
              <a:buFontTx/>
              <a:buChar char="-"/>
            </a:pPr>
            <a:r>
              <a:rPr lang="de-DE" dirty="0" err="1"/>
              <a:t>Findability</a:t>
            </a:r>
            <a:endParaRPr lang="de-DE" dirty="0"/>
          </a:p>
          <a:p>
            <a:pPr lvl="1"/>
            <a:r>
              <a:rPr lang="de-DE" sz="1400" dirty="0"/>
              <a:t>Die Suche nach Altbeiträgen soll möglichst einfach gemacht werden</a:t>
            </a:r>
          </a:p>
          <a:p>
            <a:endParaRPr lang="de-DE" dirty="0"/>
          </a:p>
          <a:p>
            <a:pPr marL="285750" indent="-285750">
              <a:buFontTx/>
              <a:buChar char="-"/>
            </a:pPr>
            <a:r>
              <a:rPr lang="de-DE" dirty="0" err="1"/>
              <a:t>Accessibility</a:t>
            </a:r>
            <a:endParaRPr lang="de-DE" dirty="0"/>
          </a:p>
          <a:p>
            <a:pPr lvl="1"/>
            <a:r>
              <a:rPr lang="de-DE" sz="1400" dirty="0"/>
              <a:t>Die Suchmöglichkeiten sollen durch einen Graphen visualisiert werden, damit das Potential ausgeschöpft werden kann</a:t>
            </a:r>
            <a:endParaRPr lang="de-DE" dirty="0"/>
          </a:p>
          <a:p>
            <a:pPr marL="285750" indent="-285750">
              <a:buFontTx/>
              <a:buChar char="-"/>
            </a:pPr>
            <a:endParaRPr lang="de-DE" dirty="0"/>
          </a:p>
          <a:p>
            <a:pPr marL="285750" indent="-285750">
              <a:buFontTx/>
              <a:buChar char="-"/>
            </a:pPr>
            <a:r>
              <a:rPr lang="de-DE" dirty="0" err="1"/>
              <a:t>Interoperability</a:t>
            </a:r>
            <a:endParaRPr lang="de-DE" dirty="0"/>
          </a:p>
          <a:p>
            <a:pPr lvl="1"/>
            <a:r>
              <a:rPr lang="de-DE" sz="1400" dirty="0"/>
              <a:t>Durch Verlinkung sollen die Interaktionsmöglichkeiten gesteigert werden</a:t>
            </a:r>
            <a:endParaRPr lang="de-DE" dirty="0"/>
          </a:p>
          <a:p>
            <a:pPr marL="285750" indent="-285750">
              <a:buFontTx/>
              <a:buChar char="-"/>
            </a:pPr>
            <a:endParaRPr lang="de-DE" dirty="0"/>
          </a:p>
          <a:p>
            <a:pPr marL="285750" indent="-285750">
              <a:buFontTx/>
              <a:buChar char="-"/>
            </a:pPr>
            <a:r>
              <a:rPr lang="de-DE" dirty="0"/>
              <a:t> </a:t>
            </a:r>
            <a:r>
              <a:rPr lang="de-DE" dirty="0" err="1"/>
              <a:t>Reusability</a:t>
            </a:r>
            <a:endParaRPr lang="de-DE" dirty="0"/>
          </a:p>
          <a:p>
            <a:pPr lvl="1"/>
            <a:r>
              <a:rPr lang="de-DE" sz="1400" dirty="0"/>
              <a:t>Final sollen relevanten Suchbegriffe veröffentlich werden, sodass sie leichter von Experten für Datenverarbeitung genutzt werden können</a:t>
            </a:r>
            <a:endParaRPr lang="de-DE" dirty="0"/>
          </a:p>
          <a:p>
            <a:pPr marL="285750" indent="-285750">
              <a:buFontTx/>
              <a:buChar char="-"/>
            </a:pPr>
            <a:endParaRPr lang="de-DE" dirty="0"/>
          </a:p>
        </p:txBody>
      </p:sp>
      <p:pic>
        <p:nvPicPr>
          <p:cNvPr id="15" name="Grafik 14">
            <a:extLst>
              <a:ext uri="{FF2B5EF4-FFF2-40B4-BE49-F238E27FC236}">
                <a16:creationId xmlns:a16="http://schemas.microsoft.com/office/drawing/2014/main" id="{17E017EC-DEBA-48F0-8BFF-6313F7C38860}"/>
              </a:ext>
            </a:extLst>
          </p:cNvPr>
          <p:cNvPicPr>
            <a:picLocks noChangeAspect="1"/>
          </p:cNvPicPr>
          <p:nvPr/>
        </p:nvPicPr>
        <p:blipFill rotWithShape="1">
          <a:blip r:embed="rId3"/>
          <a:srcRect l="2726" r="19986"/>
          <a:stretch/>
        </p:blipFill>
        <p:spPr>
          <a:xfrm>
            <a:off x="7824192" y="2564904"/>
            <a:ext cx="3456384" cy="2854617"/>
          </a:xfrm>
          <a:prstGeom prst="rect">
            <a:avLst/>
          </a:prstGeom>
        </p:spPr>
      </p:pic>
      <p:pic>
        <p:nvPicPr>
          <p:cNvPr id="13" name="Grafik 12">
            <a:extLst>
              <a:ext uri="{FF2B5EF4-FFF2-40B4-BE49-F238E27FC236}">
                <a16:creationId xmlns:a16="http://schemas.microsoft.com/office/drawing/2014/main" id="{41220DC2-9A1B-42BD-BB1D-B878D03F56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39298" y="1596839"/>
            <a:ext cx="2152702" cy="2193350"/>
          </a:xfrm>
          <a:prstGeom prst="rect">
            <a:avLst/>
          </a:prstGeom>
        </p:spPr>
      </p:pic>
      <p:pic>
        <p:nvPicPr>
          <p:cNvPr id="17" name="Grafik 16">
            <a:extLst>
              <a:ext uri="{FF2B5EF4-FFF2-40B4-BE49-F238E27FC236}">
                <a16:creationId xmlns:a16="http://schemas.microsoft.com/office/drawing/2014/main" id="{BF9FAD7C-ECF3-4783-B0BA-5A5D7E079062}"/>
              </a:ext>
            </a:extLst>
          </p:cNvPr>
          <p:cNvPicPr>
            <a:picLocks noChangeAspect="1"/>
          </p:cNvPicPr>
          <p:nvPr/>
        </p:nvPicPr>
        <p:blipFill rotWithShape="1">
          <a:blip r:embed="rId5"/>
          <a:srcRect l="1" t="2374" r="33142" b="80491"/>
          <a:stretch/>
        </p:blipFill>
        <p:spPr>
          <a:xfrm>
            <a:off x="8391071" y="5220446"/>
            <a:ext cx="3762645" cy="1002139"/>
          </a:xfrm>
          <a:prstGeom prst="rect">
            <a:avLst/>
          </a:prstGeom>
          <a:ln w="19050">
            <a:solidFill>
              <a:schemeClr val="accent1"/>
            </a:solidFill>
          </a:ln>
          <a:effectLst>
            <a:outerShdw blurRad="50800" dist="38100" dir="8100000" algn="tr" rotWithShape="0">
              <a:prstClr val="black">
                <a:alpha val="40000"/>
              </a:prstClr>
            </a:outerShdw>
          </a:effectLst>
        </p:spPr>
      </p:pic>
      <p:sp>
        <p:nvSpPr>
          <p:cNvPr id="21" name="Inhaltsplatzhalter 2">
            <a:extLst>
              <a:ext uri="{FF2B5EF4-FFF2-40B4-BE49-F238E27FC236}">
                <a16:creationId xmlns:a16="http://schemas.microsoft.com/office/drawing/2014/main" id="{BB9B2CBA-B721-4796-B134-318AEAA87218}"/>
              </a:ext>
            </a:extLst>
          </p:cNvPr>
          <p:cNvSpPr>
            <a:spLocks noGrp="1"/>
          </p:cNvSpPr>
          <p:nvPr>
            <p:ph idx="1"/>
          </p:nvPr>
        </p:nvSpPr>
        <p:spPr>
          <a:xfrm>
            <a:off x="317131" y="1412776"/>
            <a:ext cx="4469018" cy="4525963"/>
          </a:xfr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lIns="288000" tIns="180000" rIns="288000" bIns="180000" anchor="ctr">
            <a:normAutofit lnSpcReduction="10000"/>
          </a:bodyPr>
          <a:lstStyle/>
          <a:p>
            <a:pPr marL="0" indent="0">
              <a:buNone/>
            </a:pPr>
            <a:r>
              <a:rPr lang="de-DE" sz="2000" dirty="0"/>
              <a:t>Forschung soll verfügbarer gemacht werden, Kontaktpersonen leichter gefunden werden.</a:t>
            </a:r>
            <a:br>
              <a:rPr lang="de-DE" sz="2000" dirty="0"/>
            </a:br>
            <a:br>
              <a:rPr lang="de-DE" sz="2000" dirty="0"/>
            </a:br>
            <a:r>
              <a:rPr lang="de-DE" sz="2000" dirty="0"/>
              <a:t>Dies soll gewährleistet werden in dem alte Beiträge zur 58 Kat Tagung, mit Ihren Autoren, Ansprechpartners und Inhalten verfügbar gemacht werden.</a:t>
            </a:r>
            <a:br>
              <a:rPr lang="de-DE" sz="2000" dirty="0"/>
            </a:br>
            <a:br>
              <a:rPr lang="de-DE" sz="2000" dirty="0"/>
            </a:br>
            <a:r>
              <a:rPr lang="de-DE" sz="2000" dirty="0"/>
              <a:t>Hierzu werden vier Punkte (zur Rechten) genauer betrachtet. Die auf den nächsten Folien weiter besprochen werden.</a:t>
            </a:r>
          </a:p>
        </p:txBody>
      </p:sp>
    </p:spTree>
    <p:extLst>
      <p:ext uri="{BB962C8B-B14F-4D97-AF65-F5344CB8AC3E}">
        <p14:creationId xmlns:p14="http://schemas.microsoft.com/office/powerpoint/2010/main" val="92685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520F58F0-335D-484B-A98A-DD45258CD8BD}"/>
              </a:ext>
            </a:extLst>
          </p:cNvPr>
          <p:cNvPicPr>
            <a:picLocks noChangeAspect="1"/>
          </p:cNvPicPr>
          <p:nvPr/>
        </p:nvPicPr>
        <p:blipFill rotWithShape="1">
          <a:blip r:embed="rId2">
            <a:extLst>
              <a:ext uri="{28A0092B-C50C-407E-A947-70E740481C1C}">
                <a14:useLocalDpi xmlns:a14="http://schemas.microsoft.com/office/drawing/2010/main" val="0"/>
              </a:ext>
            </a:extLst>
          </a:blip>
          <a:srcRect t="12790" b="11102"/>
          <a:stretch/>
        </p:blipFill>
        <p:spPr>
          <a:xfrm>
            <a:off x="7320136" y="0"/>
            <a:ext cx="4871864" cy="6127082"/>
          </a:xfrm>
          <a:prstGeom prst="rect">
            <a:avLst/>
          </a:prstGeom>
        </p:spPr>
      </p:pic>
      <p:sp>
        <p:nvSpPr>
          <p:cNvPr id="2" name="Titel 1">
            <a:extLst>
              <a:ext uri="{FF2B5EF4-FFF2-40B4-BE49-F238E27FC236}">
                <a16:creationId xmlns:a16="http://schemas.microsoft.com/office/drawing/2014/main" id="{6827E781-1EAE-4081-A868-B936D69FD67C}"/>
              </a:ext>
            </a:extLst>
          </p:cNvPr>
          <p:cNvSpPr>
            <a:spLocks noGrp="1"/>
          </p:cNvSpPr>
          <p:nvPr>
            <p:ph type="title"/>
          </p:nvPr>
        </p:nvSpPr>
        <p:spPr>
          <a:xfrm>
            <a:off x="191954" y="292400"/>
            <a:ext cx="9218240" cy="720000"/>
          </a:xfrm>
        </p:spPr>
        <p:txBody>
          <a:bodyPr>
            <a:noAutofit/>
          </a:bodyPr>
          <a:lstStyle/>
          <a:p>
            <a:r>
              <a:rPr lang="en-US" sz="3200" dirty="0" err="1"/>
              <a:t>Suche</a:t>
            </a:r>
            <a:r>
              <a:rPr lang="en-US" sz="3200" dirty="0"/>
              <a:t> auf der </a:t>
            </a:r>
            <a:r>
              <a:rPr lang="en-US" sz="3200" dirty="0" err="1"/>
              <a:t>Dechema</a:t>
            </a:r>
            <a:r>
              <a:rPr lang="en-US" sz="3200" dirty="0"/>
              <a:t> Website </a:t>
            </a:r>
            <a:r>
              <a:rPr lang="en-US" sz="3200" dirty="0" err="1"/>
              <a:t>zur</a:t>
            </a:r>
            <a:r>
              <a:rPr lang="en-US" sz="3200" dirty="0"/>
              <a:t> </a:t>
            </a:r>
            <a:br>
              <a:rPr lang="en-US" sz="3200" dirty="0"/>
            </a:br>
            <a:r>
              <a:rPr lang="en-US" sz="3200" dirty="0"/>
              <a:t>58. </a:t>
            </a:r>
            <a:r>
              <a:rPr lang="en-US" sz="3200" dirty="0" err="1"/>
              <a:t>Jahrestagung</a:t>
            </a:r>
            <a:r>
              <a:rPr lang="en-US" sz="3200" dirty="0"/>
              <a:t> </a:t>
            </a:r>
            <a:r>
              <a:rPr lang="en-US" sz="3200" dirty="0" err="1"/>
              <a:t>Deutscher</a:t>
            </a:r>
            <a:r>
              <a:rPr lang="en-US" sz="3200" dirty="0"/>
              <a:t> </a:t>
            </a:r>
            <a:r>
              <a:rPr lang="en-US" sz="3200" dirty="0" err="1"/>
              <a:t>Katalytiker</a:t>
            </a:r>
            <a:endParaRPr lang="en-US" sz="3200" dirty="0"/>
          </a:p>
        </p:txBody>
      </p:sp>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172507" y="1490054"/>
            <a:ext cx="5274813" cy="4525963"/>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92500" lnSpcReduction="1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Wir hoffen dass wir in Absprache mit Ihnen</a:t>
            </a:r>
          </a:p>
          <a:p>
            <a:pPr marL="0" indent="0">
              <a:buFont typeface="Wingdings" panose="05000000000000000000" pitchFamily="2" charset="2"/>
              <a:buNone/>
            </a:pPr>
            <a:r>
              <a:rPr lang="de-DE" sz="2000" dirty="0"/>
              <a:t>eine Suchfunktion auf der Website zur 58.</a:t>
            </a:r>
          </a:p>
          <a:p>
            <a:pPr marL="0" indent="0">
              <a:buFont typeface="Wingdings" panose="05000000000000000000" pitchFamily="2" charset="2"/>
              <a:buNone/>
            </a:pPr>
            <a:r>
              <a:rPr lang="de-DE" sz="2000" dirty="0"/>
              <a:t>Jahrestagung Deutscher </a:t>
            </a:r>
            <a:r>
              <a:rPr lang="de-DE" sz="2000" dirty="0" err="1"/>
              <a:t>Katalytiker</a:t>
            </a:r>
            <a:endParaRPr lang="de-DE" sz="2000" dirty="0"/>
          </a:p>
          <a:p>
            <a:pPr marL="0" indent="0">
              <a:buFont typeface="Wingdings" panose="05000000000000000000" pitchFamily="2" charset="2"/>
              <a:buNone/>
            </a:pPr>
            <a:r>
              <a:rPr lang="de-DE" sz="2000" dirty="0"/>
              <a:t>implementieren können, sodass relevante</a:t>
            </a:r>
          </a:p>
          <a:p>
            <a:pPr marL="0" indent="0">
              <a:buFont typeface="Wingdings" panose="05000000000000000000" pitchFamily="2" charset="2"/>
              <a:buNone/>
            </a:pPr>
            <a:r>
              <a:rPr lang="de-DE" sz="2000" dirty="0"/>
              <a:t>Informationen schneller gefunden werden</a:t>
            </a:r>
          </a:p>
          <a:p>
            <a:pPr marL="0" indent="0">
              <a:buFont typeface="Wingdings" panose="05000000000000000000" pitchFamily="2" charset="2"/>
              <a:buNone/>
            </a:pPr>
            <a:r>
              <a:rPr lang="de-DE" sz="2000" dirty="0"/>
              <a:t>können.</a:t>
            </a:r>
          </a:p>
          <a:p>
            <a:pPr marL="0" indent="0">
              <a:buFont typeface="Wingdings" panose="05000000000000000000" pitchFamily="2" charset="2"/>
              <a:buNone/>
            </a:pPr>
            <a:r>
              <a:rPr lang="de-DE" sz="2000" dirty="0"/>
              <a:t>(siehe Skizze)</a:t>
            </a:r>
          </a:p>
          <a:p>
            <a:pPr marL="0" indent="0">
              <a:buFont typeface="Wingdings" panose="05000000000000000000" pitchFamily="2" charset="2"/>
              <a:buNone/>
            </a:pPr>
            <a:endParaRPr lang="de-DE" sz="2000" dirty="0"/>
          </a:p>
          <a:p>
            <a:pPr marL="0" indent="0">
              <a:buFont typeface="Wingdings" panose="05000000000000000000" pitchFamily="2" charset="2"/>
              <a:buNone/>
            </a:pPr>
            <a:r>
              <a:rPr lang="de-DE" sz="2000" dirty="0"/>
              <a:t>Für detailreichere Suchen würden wir auf die</a:t>
            </a:r>
          </a:p>
          <a:p>
            <a:pPr marL="0" indent="0">
              <a:buFont typeface="Wingdings" panose="05000000000000000000" pitchFamily="2" charset="2"/>
              <a:buNone/>
            </a:pPr>
            <a:r>
              <a:rPr lang="de-DE" sz="2000" dirty="0"/>
              <a:t>auf die von uns gelieferten Werkzeuge rund</a:t>
            </a:r>
          </a:p>
          <a:p>
            <a:pPr marL="0" indent="0">
              <a:buFont typeface="Wingdings" panose="05000000000000000000" pitchFamily="2" charset="2"/>
              <a:buNone/>
            </a:pPr>
            <a:r>
              <a:rPr lang="de-DE" sz="2000" dirty="0"/>
              <a:t>um die Dokumentation und Visualisierung</a:t>
            </a:r>
          </a:p>
          <a:p>
            <a:pPr marL="0" indent="0">
              <a:buFont typeface="Wingdings" panose="05000000000000000000" pitchFamily="2" charset="2"/>
              <a:buNone/>
            </a:pPr>
            <a:r>
              <a:rPr lang="de-DE" sz="2000" dirty="0"/>
              <a:t>von Wissensgraphen verweisen wollen</a:t>
            </a:r>
          </a:p>
          <a:p>
            <a:pPr marL="0" indent="0">
              <a:buFont typeface="Wingdings" panose="05000000000000000000" pitchFamily="2" charset="2"/>
              <a:buNone/>
            </a:pPr>
            <a:r>
              <a:rPr lang="de-DE" sz="2000" dirty="0"/>
              <a:t>(siehe nächste Folien)</a:t>
            </a:r>
          </a:p>
        </p:txBody>
      </p:sp>
      <p:sp>
        <p:nvSpPr>
          <p:cNvPr id="12" name="Rechteck 11">
            <a:extLst>
              <a:ext uri="{FF2B5EF4-FFF2-40B4-BE49-F238E27FC236}">
                <a16:creationId xmlns:a16="http://schemas.microsoft.com/office/drawing/2014/main" id="{A16FB5A4-7E6C-41C6-95E7-5C267D5C8310}"/>
              </a:ext>
            </a:extLst>
          </p:cNvPr>
          <p:cNvSpPr/>
          <p:nvPr/>
        </p:nvSpPr>
        <p:spPr>
          <a:xfrm>
            <a:off x="7536160" y="2564904"/>
            <a:ext cx="2952328" cy="361245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feld 12">
            <a:extLst>
              <a:ext uri="{FF2B5EF4-FFF2-40B4-BE49-F238E27FC236}">
                <a16:creationId xmlns:a16="http://schemas.microsoft.com/office/drawing/2014/main" id="{B9DE7D03-14D7-40B4-AA5F-C1E910FC523A}"/>
              </a:ext>
            </a:extLst>
          </p:cNvPr>
          <p:cNvSpPr txBox="1"/>
          <p:nvPr/>
        </p:nvSpPr>
        <p:spPr>
          <a:xfrm>
            <a:off x="7536160" y="6209708"/>
            <a:ext cx="3098170" cy="584775"/>
          </a:xfrm>
          <a:prstGeom prst="rect">
            <a:avLst/>
          </a:prstGeom>
          <a:solidFill>
            <a:schemeClr val="bg1"/>
          </a:solidFill>
          <a:ln>
            <a:solidFill>
              <a:schemeClr val="tx1"/>
            </a:solidFill>
          </a:ln>
        </p:spPr>
        <p:txBody>
          <a:bodyPr wrap="square" rtlCol="0">
            <a:spAutoFit/>
          </a:bodyPr>
          <a:lstStyle/>
          <a:p>
            <a:r>
              <a:rPr lang="de-DE" sz="1600"/>
              <a:t>Skizze wie eine Suche auf der Website aussehen könnte</a:t>
            </a:r>
          </a:p>
        </p:txBody>
      </p:sp>
    </p:spTree>
    <p:extLst>
      <p:ext uri="{BB962C8B-B14F-4D97-AF65-F5344CB8AC3E}">
        <p14:creationId xmlns:p14="http://schemas.microsoft.com/office/powerpoint/2010/main" val="87278004"/>
      </p:ext>
    </p:extLst>
  </p:cSld>
  <p:clrMapOvr>
    <a:masterClrMapping/>
  </p:clrMapOvr>
  <p:transition spd="med">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1" y="1412776"/>
            <a:ext cx="4469018" cy="4525963"/>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85000" lnSpcReduction="1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Zur Darstellung der Daten kann ein Graph genutzt werden. Da der vollständige Graph unübersichtlich sein kann, hoffen wir, dass es möglich ist Graph-Fragmente auf der Website der </a:t>
            </a:r>
            <a:r>
              <a:rPr lang="de-DE" sz="2000" dirty="0" err="1"/>
              <a:t>Dechema</a:t>
            </a:r>
            <a:r>
              <a:rPr lang="de-DE" sz="2000" dirty="0"/>
              <a:t> darzustellen. </a:t>
            </a:r>
            <a:br>
              <a:rPr lang="de-DE" sz="2000" dirty="0"/>
            </a:br>
            <a:br>
              <a:rPr lang="de-DE" sz="2000" dirty="0"/>
            </a:br>
            <a:r>
              <a:rPr lang="de-DE" sz="2000" dirty="0"/>
              <a:t>Ein Beispiel für solch einen Graphen haben wir auf der vorherigen Folie für Frank </a:t>
            </a:r>
            <a:r>
              <a:rPr lang="de-DE" sz="2000" dirty="0" err="1"/>
              <a:t>Rosovski</a:t>
            </a:r>
            <a:r>
              <a:rPr lang="de-DE" sz="2000" dirty="0"/>
              <a:t> (eines der größten Graph-Fragmente) und hier für Norbert Kockmann zur besseren Übersichtlichkeit dargestellt.</a:t>
            </a:r>
          </a:p>
          <a:p>
            <a:pPr marL="0" indent="0">
              <a:buFont typeface="Wingdings" panose="05000000000000000000" pitchFamily="2" charset="2"/>
              <a:buNone/>
            </a:pPr>
            <a:endParaRPr lang="de-DE" sz="2000" dirty="0"/>
          </a:p>
          <a:p>
            <a:pPr marL="0" indent="0">
              <a:buFont typeface="Wingdings" panose="05000000000000000000" pitchFamily="2" charset="2"/>
              <a:buNone/>
            </a:pPr>
            <a:r>
              <a:rPr lang="de-DE" sz="2000" dirty="0"/>
              <a:t>Eine einfache Testsoftware ist ebenfalls in dem </a:t>
            </a:r>
            <a:r>
              <a:rPr lang="de-DE" sz="2000" dirty="0" err="1"/>
              <a:t>Sciebo</a:t>
            </a:r>
            <a:r>
              <a:rPr lang="de-DE" sz="2000" dirty="0"/>
              <a:t>-Ordner zu finden. Für eine Implementierung auf der </a:t>
            </a:r>
            <a:r>
              <a:rPr lang="de-DE" sz="2000" dirty="0" err="1"/>
              <a:t>Dechema</a:t>
            </a:r>
            <a:r>
              <a:rPr lang="de-DE" sz="2000" dirty="0"/>
              <a:t> Website (oder anderweitig) müssten einige Details besprochen werden.</a:t>
            </a:r>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838200" y="476250"/>
            <a:ext cx="9218613" cy="720725"/>
          </a:xfrm>
        </p:spPr>
        <p:txBody>
          <a:bodyPr>
            <a:normAutofit fontScale="90000"/>
          </a:bodyPr>
          <a:lstStyle/>
          <a:p>
            <a:r>
              <a:rPr lang="de-DE"/>
              <a:t>Interaktiver Graph mit allen erfassten Beiträgen</a:t>
            </a:r>
          </a:p>
        </p:txBody>
      </p:sp>
      <p:pic>
        <p:nvPicPr>
          <p:cNvPr id="3" name="Grafik 2">
            <a:extLst>
              <a:ext uri="{FF2B5EF4-FFF2-40B4-BE49-F238E27FC236}">
                <a16:creationId xmlns:a16="http://schemas.microsoft.com/office/drawing/2014/main" id="{19512981-0F4C-4088-A342-68A8B5AFA0EE}"/>
              </a:ext>
            </a:extLst>
          </p:cNvPr>
          <p:cNvPicPr>
            <a:picLocks noChangeAspect="1"/>
          </p:cNvPicPr>
          <p:nvPr/>
        </p:nvPicPr>
        <p:blipFill>
          <a:blip r:embed="rId2">
            <a:clrChange>
              <a:clrFrom>
                <a:srgbClr val="ECF0F1"/>
              </a:clrFrom>
              <a:clrTo>
                <a:srgbClr val="ECF0F1">
                  <a:alpha val="0"/>
                </a:srgbClr>
              </a:clrTo>
            </a:clrChange>
          </a:blip>
          <a:stretch>
            <a:fillRect/>
          </a:stretch>
        </p:blipFill>
        <p:spPr>
          <a:xfrm>
            <a:off x="4727848" y="569254"/>
            <a:ext cx="6201213" cy="4668329"/>
          </a:xfrm>
          <a:prstGeom prst="rect">
            <a:avLst/>
          </a:prstGeom>
        </p:spPr>
      </p:pic>
      <p:pic>
        <p:nvPicPr>
          <p:cNvPr id="9" name="Grafik 8">
            <a:extLst>
              <a:ext uri="{FF2B5EF4-FFF2-40B4-BE49-F238E27FC236}">
                <a16:creationId xmlns:a16="http://schemas.microsoft.com/office/drawing/2014/main" id="{559876D4-6EFF-446E-BE0E-7F5FB74EB3F6}"/>
              </a:ext>
            </a:extLst>
          </p:cNvPr>
          <p:cNvPicPr>
            <a:picLocks noChangeAspect="1"/>
          </p:cNvPicPr>
          <p:nvPr/>
        </p:nvPicPr>
        <p:blipFill rotWithShape="1">
          <a:blip r:embed="rId3">
            <a:clrChange>
              <a:clrFrom>
                <a:srgbClr val="ECF0F1"/>
              </a:clrFrom>
              <a:clrTo>
                <a:srgbClr val="ECF0F1">
                  <a:alpha val="0"/>
                </a:srgbClr>
              </a:clrTo>
            </a:clrChange>
          </a:blip>
          <a:srcRect r="36521" b="35578"/>
          <a:stretch/>
        </p:blipFill>
        <p:spPr>
          <a:xfrm>
            <a:off x="8616280" y="2867026"/>
            <a:ext cx="3575720" cy="3370286"/>
          </a:xfrm>
          <a:prstGeom prst="rect">
            <a:avLst/>
          </a:prstGeom>
        </p:spPr>
      </p:pic>
      <p:sp>
        <p:nvSpPr>
          <p:cNvPr id="10" name="Textfeld 9">
            <a:extLst>
              <a:ext uri="{FF2B5EF4-FFF2-40B4-BE49-F238E27FC236}">
                <a16:creationId xmlns:a16="http://schemas.microsoft.com/office/drawing/2014/main" id="{F602308F-0912-4BDF-A178-E5908BB21698}"/>
              </a:ext>
            </a:extLst>
          </p:cNvPr>
          <p:cNvSpPr txBox="1"/>
          <p:nvPr/>
        </p:nvSpPr>
        <p:spPr>
          <a:xfrm>
            <a:off x="5447506" y="1484784"/>
            <a:ext cx="3672830" cy="646331"/>
          </a:xfrm>
          <a:prstGeom prst="rect">
            <a:avLst/>
          </a:prstGeom>
          <a:noFill/>
        </p:spPr>
        <p:txBody>
          <a:bodyPr wrap="square" rtlCol="0">
            <a:spAutoFit/>
          </a:bodyPr>
          <a:lstStyle/>
          <a:p>
            <a:r>
              <a:rPr lang="de-DE" dirty="0"/>
              <a:t>Ausschnitt aus dem </a:t>
            </a:r>
            <a:br>
              <a:rPr lang="de-DE" dirty="0"/>
            </a:br>
            <a:r>
              <a:rPr lang="de-DE" dirty="0"/>
              <a:t>gesamten Wissensgraph</a:t>
            </a:r>
          </a:p>
        </p:txBody>
      </p:sp>
      <p:sp>
        <p:nvSpPr>
          <p:cNvPr id="11" name="Pfeil: nach oben und unten 10">
            <a:extLst>
              <a:ext uri="{FF2B5EF4-FFF2-40B4-BE49-F238E27FC236}">
                <a16:creationId xmlns:a16="http://schemas.microsoft.com/office/drawing/2014/main" id="{965F97DA-BAA5-49EE-9E77-8DEA9CD4748E}"/>
              </a:ext>
            </a:extLst>
          </p:cNvPr>
          <p:cNvSpPr/>
          <p:nvPr/>
        </p:nvSpPr>
        <p:spPr>
          <a:xfrm rot="18711166">
            <a:off x="8976319" y="3206715"/>
            <a:ext cx="288032" cy="57606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7472992"/>
      </p:ext>
    </p:extLst>
  </p:cSld>
  <p:clrMapOvr>
    <a:masterClrMapping/>
  </p:clrMapOvr>
  <p:transition spd="med">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1" y="1490166"/>
            <a:ext cx="4469018" cy="4525963"/>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85000" lnSpcReduction="1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Um die Informationen aus dem Abstract so gut es geht verfügbar und interoperabel zu machen, können wir die Daten in einem Wikipedia-ähnlichen Format darstellen, in dem alle Informationen per Link verknüpft sind.</a:t>
            </a:r>
            <a:br>
              <a:rPr lang="de-DE" sz="2000" dirty="0"/>
            </a:br>
            <a:br>
              <a:rPr lang="de-DE" sz="2000" dirty="0"/>
            </a:br>
            <a:r>
              <a:rPr lang="de-DE" sz="2000" dirty="0"/>
              <a:t>Dies ermöglicht schnell von einem Autor auf den nächsten Autor zu springen und auch zu sehen, wie viele Beiträge von einem Autor eingereicht werden.</a:t>
            </a:r>
            <a:br>
              <a:rPr lang="de-DE" sz="2000" dirty="0"/>
            </a:br>
            <a:br>
              <a:rPr lang="de-DE" sz="2000" dirty="0"/>
            </a:br>
            <a:r>
              <a:rPr lang="de-DE" sz="2000" dirty="0"/>
              <a:t>Hier sollten im optimalen Fall natürlich auch die Original-Dateien (PDFs der Abstracts) per Link zur Verfügung gestellt werden.</a:t>
            </a:r>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838200" y="476250"/>
            <a:ext cx="9218613" cy="720725"/>
          </a:xfrm>
        </p:spPr>
        <p:txBody>
          <a:bodyPr>
            <a:normAutofit fontScale="90000"/>
          </a:bodyPr>
          <a:lstStyle/>
          <a:p>
            <a:r>
              <a:rPr lang="en-US" dirty="0"/>
              <a:t>Website/</a:t>
            </a:r>
            <a:r>
              <a:rPr lang="en-US" dirty="0" err="1"/>
              <a:t>Detailierte</a:t>
            </a:r>
            <a:r>
              <a:rPr lang="en-US" dirty="0"/>
              <a:t> </a:t>
            </a:r>
            <a:r>
              <a:rPr lang="en-US" dirty="0" err="1"/>
              <a:t>Dokumentation</a:t>
            </a:r>
            <a:r>
              <a:rPr lang="en-US" dirty="0"/>
              <a:t> und </a:t>
            </a:r>
            <a:r>
              <a:rPr lang="en-US" dirty="0" err="1"/>
              <a:t>Verlinkung</a:t>
            </a:r>
            <a:r>
              <a:rPr lang="en-US" dirty="0"/>
              <a:t> </a:t>
            </a:r>
            <a:r>
              <a:rPr lang="en-US" dirty="0" err="1"/>
              <a:t>aller</a:t>
            </a:r>
            <a:r>
              <a:rPr lang="en-US" dirty="0"/>
              <a:t> </a:t>
            </a:r>
            <a:r>
              <a:rPr lang="en-US" dirty="0" err="1"/>
              <a:t>Beiträge</a:t>
            </a:r>
            <a:endParaRPr lang="en-US" dirty="0"/>
          </a:p>
        </p:txBody>
      </p:sp>
      <p:pic>
        <p:nvPicPr>
          <p:cNvPr id="9" name="Grafik 8">
            <a:extLst>
              <a:ext uri="{FF2B5EF4-FFF2-40B4-BE49-F238E27FC236}">
                <a16:creationId xmlns:a16="http://schemas.microsoft.com/office/drawing/2014/main" id="{6A09A51F-ABCA-489C-A715-9BE6974F034B}"/>
              </a:ext>
            </a:extLst>
          </p:cNvPr>
          <p:cNvPicPr>
            <a:picLocks noChangeAspect="1"/>
          </p:cNvPicPr>
          <p:nvPr/>
        </p:nvPicPr>
        <p:blipFill rotWithShape="1">
          <a:blip r:embed="rId2">
            <a:extLst>
              <a:ext uri="{28A0092B-C50C-407E-A947-70E740481C1C}">
                <a14:useLocalDpi xmlns:a14="http://schemas.microsoft.com/office/drawing/2010/main" val="0"/>
              </a:ext>
            </a:extLst>
          </a:blip>
          <a:srcRect t="60330" b="14891"/>
          <a:stretch/>
        </p:blipFill>
        <p:spPr>
          <a:xfrm>
            <a:off x="5159896" y="2420888"/>
            <a:ext cx="8611926" cy="3698747"/>
          </a:xfrm>
          <a:prstGeom prst="rect">
            <a:avLst/>
          </a:prstGeom>
          <a:ln w="28575">
            <a:solidFill>
              <a:schemeClr val="accent1">
                <a:lumMod val="60000"/>
                <a:lumOff val="40000"/>
              </a:schemeClr>
            </a:solidFill>
          </a:ln>
          <a:effectLst>
            <a:outerShdw blurRad="50800" dist="38100" dir="18900000" algn="bl" rotWithShape="0">
              <a:prstClr val="black">
                <a:alpha val="40000"/>
              </a:prstClr>
            </a:outerShdw>
          </a:effectLst>
        </p:spPr>
      </p:pic>
      <p:pic>
        <p:nvPicPr>
          <p:cNvPr id="8" name="Grafik 7">
            <a:extLst>
              <a:ext uri="{FF2B5EF4-FFF2-40B4-BE49-F238E27FC236}">
                <a16:creationId xmlns:a16="http://schemas.microsoft.com/office/drawing/2014/main" id="{EBF04BDD-F656-45B7-95FA-AD7340505E0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6502" b="14891"/>
          <a:stretch/>
        </p:blipFill>
        <p:spPr>
          <a:xfrm>
            <a:off x="9279090" y="1196975"/>
            <a:ext cx="2595779" cy="3536775"/>
          </a:xfrm>
          <a:prstGeom prst="rect">
            <a:avLst/>
          </a:prstGeom>
          <a:ln w="28575">
            <a:solidFill>
              <a:schemeClr val="accent1">
                <a:lumMod val="60000"/>
                <a:lumOff val="40000"/>
              </a:schemeClr>
            </a:solidFill>
          </a:ln>
        </p:spPr>
      </p:pic>
    </p:spTree>
    <p:extLst>
      <p:ext uri="{BB962C8B-B14F-4D97-AF65-F5344CB8AC3E}">
        <p14:creationId xmlns:p14="http://schemas.microsoft.com/office/powerpoint/2010/main" val="4130246478"/>
      </p:ext>
    </p:extLst>
  </p:cSld>
  <p:clrMapOvr>
    <a:masterClrMapping/>
  </p:clrMapOvr>
  <p:transition spd="med">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0" y="1268760"/>
            <a:ext cx="4986781" cy="4747369"/>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85000" lnSpcReduction="2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Ich möchte nicht zu sehr auf die Art und Weise der Datenbereitstellung eingehen (es handelt sich hier um eine sehr standardisierte Dateisprache, die weit verbreitet ist), sondern auf die Benefits.</a:t>
            </a:r>
            <a:br>
              <a:rPr lang="de-DE" sz="2000" dirty="0"/>
            </a:br>
            <a:br>
              <a:rPr lang="de-DE" sz="2000" dirty="0"/>
            </a:br>
            <a:r>
              <a:rPr lang="de-DE" sz="2000" dirty="0"/>
              <a:t>Präsentiert werden sollen nur beschränkte offene Informationen (jene, die uns die Forscher geben wollen). Um diese besser durchsuchen zu können und mit anderen Informationen verknüpfen zu können, werden heute Datenformate wie das rechts zu sehende genutzt. Diese bieten die Möglichkeiten des vollständigen Durchsuchens mit den dazugehörigen Werkzeugen. </a:t>
            </a:r>
            <a:br>
              <a:rPr lang="de-DE" sz="2000" dirty="0"/>
            </a:br>
            <a:br>
              <a:rPr lang="de-DE" sz="2000" dirty="0"/>
            </a:br>
            <a:r>
              <a:rPr lang="de-DE" sz="2000" dirty="0"/>
              <a:t>Dies schafft, ähnlich wie Zitationen von Publikationen, Sichtbarkeit und kann somit die Vorteile für den Forscher bringen.</a:t>
            </a:r>
            <a:br>
              <a:rPr lang="de-DE" sz="2000" dirty="0"/>
            </a:br>
            <a:r>
              <a:rPr lang="de-DE" sz="2000" dirty="0"/>
              <a:t>Die dort hinterlegten Daten müssen natürlich guten Gewissens präsentiert werden können, daher sollten hier keine kritischen Informationen hinterlegt werden.</a:t>
            </a:r>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838200" y="476250"/>
            <a:ext cx="9218613" cy="720725"/>
          </a:xfrm>
        </p:spPr>
        <p:txBody>
          <a:bodyPr>
            <a:normAutofit fontScale="90000"/>
          </a:bodyPr>
          <a:lstStyle/>
          <a:p>
            <a:r>
              <a:rPr lang="en-US" dirty="0" err="1"/>
              <a:t>Bereitstellung</a:t>
            </a:r>
            <a:r>
              <a:rPr lang="en-US" dirty="0"/>
              <a:t> </a:t>
            </a:r>
            <a:r>
              <a:rPr lang="en-US" dirty="0" err="1"/>
              <a:t>als</a:t>
            </a:r>
            <a:r>
              <a:rPr lang="en-US" dirty="0"/>
              <a:t> </a:t>
            </a:r>
            <a:r>
              <a:rPr lang="en-US" dirty="0" err="1"/>
              <a:t>Durchsuchbares</a:t>
            </a:r>
            <a:r>
              <a:rPr lang="en-US" dirty="0"/>
              <a:t> </a:t>
            </a:r>
            <a:r>
              <a:rPr lang="en-US" dirty="0" err="1"/>
              <a:t>Dokument</a:t>
            </a:r>
            <a:endParaRPr lang="en-US" dirty="0"/>
          </a:p>
        </p:txBody>
      </p:sp>
      <p:pic>
        <p:nvPicPr>
          <p:cNvPr id="7" name="Grafik 6">
            <a:extLst>
              <a:ext uri="{FF2B5EF4-FFF2-40B4-BE49-F238E27FC236}">
                <a16:creationId xmlns:a16="http://schemas.microsoft.com/office/drawing/2014/main" id="{BE6FBB5E-CA5E-43DF-A2E3-9FFB17ACB9A9}"/>
              </a:ext>
            </a:extLst>
          </p:cNvPr>
          <p:cNvPicPr>
            <a:picLocks noChangeAspect="1"/>
          </p:cNvPicPr>
          <p:nvPr/>
        </p:nvPicPr>
        <p:blipFill rotWithShape="1">
          <a:blip r:embed="rId2"/>
          <a:srcRect l="1" t="2374" r="33142" b="80491"/>
          <a:stretch/>
        </p:blipFill>
        <p:spPr>
          <a:xfrm>
            <a:off x="5879976" y="2852936"/>
            <a:ext cx="6163037" cy="1641457"/>
          </a:xfrm>
          <a:prstGeom prst="rect">
            <a:avLst/>
          </a:prstGeom>
          <a:ln w="19050">
            <a:solidFill>
              <a:schemeClr val="accent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949013643"/>
      </p:ext>
    </p:extLst>
  </p:cSld>
  <p:clrMapOvr>
    <a:masterClrMapping/>
  </p:clrMapOvr>
  <p:transition spd="med">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551384" y="908720"/>
            <a:ext cx="10441160" cy="1296144"/>
          </a:xfrm>
        </p:spPr>
        <p:txBody>
          <a:bodyPr>
            <a:normAutofit/>
          </a:bodyPr>
          <a:lstStyle/>
          <a:p>
            <a:pPr algn="ctr"/>
            <a:r>
              <a:rPr lang="de-DE" sz="4400"/>
              <a:t>Interesse die Daten einmal selbst zu sichten?</a:t>
            </a:r>
          </a:p>
        </p:txBody>
      </p:sp>
      <p:pic>
        <p:nvPicPr>
          <p:cNvPr id="9" name="Grafik 8">
            <a:extLst>
              <a:ext uri="{FF2B5EF4-FFF2-40B4-BE49-F238E27FC236}">
                <a16:creationId xmlns:a16="http://schemas.microsoft.com/office/drawing/2014/main" id="{50ACEBA2-1CC8-42D1-82F0-93B8C48973A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12285" b="32778"/>
          <a:stretch/>
        </p:blipFill>
        <p:spPr>
          <a:xfrm flipH="1">
            <a:off x="-1" y="2021512"/>
            <a:ext cx="5663952" cy="4233335"/>
          </a:xfrm>
          <a:prstGeom prst="rect">
            <a:avLst/>
          </a:prstGeom>
        </p:spPr>
      </p:pic>
      <p:pic>
        <p:nvPicPr>
          <p:cNvPr id="10" name="Grafik 9">
            <a:extLst>
              <a:ext uri="{FF2B5EF4-FFF2-40B4-BE49-F238E27FC236}">
                <a16:creationId xmlns:a16="http://schemas.microsoft.com/office/drawing/2014/main" id="{B754241A-55CE-4254-A28F-E1E3379AECDB}"/>
              </a:ext>
            </a:extLst>
          </p:cNvPr>
          <p:cNvPicPr>
            <a:picLocks noChangeAspect="1"/>
          </p:cNvPicPr>
          <p:nvPr/>
        </p:nvPicPr>
        <p:blipFill rotWithShape="1">
          <a:blip r:embed="rId3">
            <a:extLst>
              <a:ext uri="{28A0092B-C50C-407E-A947-70E740481C1C}">
                <a14:useLocalDpi xmlns:a14="http://schemas.microsoft.com/office/drawing/2010/main" val="0"/>
              </a:ext>
            </a:extLst>
          </a:blip>
          <a:srcRect t="60330" b="14891"/>
          <a:stretch/>
        </p:blipFill>
        <p:spPr>
          <a:xfrm>
            <a:off x="7015248" y="2809545"/>
            <a:ext cx="7954591" cy="3416427"/>
          </a:xfrm>
          <a:prstGeom prst="rect">
            <a:avLst/>
          </a:prstGeom>
          <a:ln w="28575">
            <a:solidFill>
              <a:schemeClr val="accent1">
                <a:lumMod val="60000"/>
                <a:lumOff val="40000"/>
              </a:schemeClr>
            </a:solid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636642956"/>
      </p:ext>
    </p:extLst>
  </p:cSld>
  <p:clrMapOvr>
    <a:masterClrMapping/>
  </p:clrMapOvr>
  <p:transition spd="med">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27E781-1EAE-4081-A868-B936D69FD67C}"/>
              </a:ext>
            </a:extLst>
          </p:cNvPr>
          <p:cNvSpPr>
            <a:spLocks noGrp="1"/>
          </p:cNvSpPr>
          <p:nvPr>
            <p:ph type="title"/>
          </p:nvPr>
        </p:nvSpPr>
        <p:spPr/>
        <p:txBody>
          <a:bodyPr/>
          <a:lstStyle/>
          <a:p>
            <a:r>
              <a:rPr lang="en-US" dirty="0" err="1"/>
              <a:t>Daten</a:t>
            </a:r>
            <a:endParaRPr lang="en-US" dirty="0"/>
          </a:p>
        </p:txBody>
      </p:sp>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1" y="1412776"/>
            <a:ext cx="4469018" cy="4525963"/>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Leider ist die Darstellung der Daten nicht ganz einfach, daher führe ich hier einmal Schritt für Schritt durch.</a:t>
            </a:r>
          </a:p>
          <a:p>
            <a:pPr marL="0" indent="0">
              <a:buFont typeface="Wingdings" panose="05000000000000000000" pitchFamily="2" charset="2"/>
              <a:buNone/>
            </a:pPr>
            <a:endParaRPr lang="de-DE" sz="2000" dirty="0"/>
          </a:p>
          <a:p>
            <a:pPr marL="0" indent="0">
              <a:buFont typeface="Wingdings" panose="05000000000000000000" pitchFamily="2" charset="2"/>
              <a:buNone/>
            </a:pPr>
            <a:r>
              <a:rPr lang="de-DE" sz="2000" dirty="0"/>
              <a:t>Es handelt sich um Dokumente, die dafür vorgesehen sind, als Website implementiert zu werden. </a:t>
            </a:r>
            <a:br>
              <a:rPr lang="de-DE" sz="2000" dirty="0"/>
            </a:br>
            <a:br>
              <a:rPr lang="de-DE" sz="2000" dirty="0"/>
            </a:br>
            <a:r>
              <a:rPr lang="de-DE" sz="2000" dirty="0"/>
              <a:t>Sollte es irgendwelche Bedenken geben, hoffe ich, dass Ihre IT-Abteilung Ihnen weiterhelfen kann.</a:t>
            </a:r>
            <a:br>
              <a:rPr lang="de-DE" sz="2000" dirty="0"/>
            </a:br>
            <a:br>
              <a:rPr lang="de-DE" sz="2000" dirty="0"/>
            </a:br>
            <a:r>
              <a:rPr lang="de-DE" sz="2000" dirty="0"/>
              <a:t>Ich hoffe aber das alles funktioniert</a:t>
            </a:r>
          </a:p>
        </p:txBody>
      </p:sp>
      <p:sp>
        <p:nvSpPr>
          <p:cNvPr id="10" name="Textfeld 9">
            <a:extLst>
              <a:ext uri="{FF2B5EF4-FFF2-40B4-BE49-F238E27FC236}">
                <a16:creationId xmlns:a16="http://schemas.microsoft.com/office/drawing/2014/main" id="{A1AAC64C-840A-4AE5-91D2-1F8069BE620F}"/>
              </a:ext>
            </a:extLst>
          </p:cNvPr>
          <p:cNvSpPr txBox="1"/>
          <p:nvPr/>
        </p:nvSpPr>
        <p:spPr>
          <a:xfrm>
            <a:off x="5231904" y="1196752"/>
            <a:ext cx="6264696" cy="800219"/>
          </a:xfrm>
          <a:prstGeom prst="rect">
            <a:avLst/>
          </a:prstGeom>
          <a:noFill/>
        </p:spPr>
        <p:txBody>
          <a:bodyPr wrap="square" rtlCol="0">
            <a:spAutoFit/>
          </a:bodyPr>
          <a:lstStyle/>
          <a:p>
            <a:r>
              <a:rPr lang="de-DE" dirty="0"/>
              <a:t>1. Die Datei “Auswertung Abstract.zip” entpacken. </a:t>
            </a:r>
            <a:br>
              <a:rPr lang="de-DE" dirty="0"/>
            </a:br>
            <a:r>
              <a:rPr lang="de-DE" sz="1400" dirty="0"/>
              <a:t>Alle Inhalte gehören zusammen und erzeugen nur die richtige Darstellung, wenn Sie in dieser Ordnerstruktur bleiben!</a:t>
            </a:r>
            <a:endParaRPr lang="de-DE" dirty="0"/>
          </a:p>
        </p:txBody>
      </p:sp>
      <p:pic>
        <p:nvPicPr>
          <p:cNvPr id="12" name="Grafik 11">
            <a:extLst>
              <a:ext uri="{FF2B5EF4-FFF2-40B4-BE49-F238E27FC236}">
                <a16:creationId xmlns:a16="http://schemas.microsoft.com/office/drawing/2014/main" id="{A2136352-31A9-496C-B56D-2908237495EC}"/>
              </a:ext>
            </a:extLst>
          </p:cNvPr>
          <p:cNvPicPr>
            <a:picLocks noChangeAspect="1"/>
          </p:cNvPicPr>
          <p:nvPr/>
        </p:nvPicPr>
        <p:blipFill rotWithShape="1">
          <a:blip r:embed="rId2"/>
          <a:srcRect b="21975"/>
          <a:stretch/>
        </p:blipFill>
        <p:spPr>
          <a:xfrm>
            <a:off x="6463785" y="1996971"/>
            <a:ext cx="4304989" cy="2296125"/>
          </a:xfrm>
          <a:prstGeom prst="rect">
            <a:avLst/>
          </a:prstGeom>
        </p:spPr>
      </p:pic>
      <p:sp>
        <p:nvSpPr>
          <p:cNvPr id="13" name="Textfeld 12">
            <a:extLst>
              <a:ext uri="{FF2B5EF4-FFF2-40B4-BE49-F238E27FC236}">
                <a16:creationId xmlns:a16="http://schemas.microsoft.com/office/drawing/2014/main" id="{52F3FBAC-77F5-4491-80C4-1E5FD7E095AB}"/>
              </a:ext>
            </a:extLst>
          </p:cNvPr>
          <p:cNvSpPr txBox="1"/>
          <p:nvPr/>
        </p:nvSpPr>
        <p:spPr>
          <a:xfrm>
            <a:off x="5231904" y="4437112"/>
            <a:ext cx="6249788" cy="1754326"/>
          </a:xfrm>
          <a:prstGeom prst="rect">
            <a:avLst/>
          </a:prstGeom>
          <a:noFill/>
        </p:spPr>
        <p:txBody>
          <a:bodyPr wrap="square" rtlCol="0">
            <a:spAutoFit/>
          </a:bodyPr>
          <a:lstStyle/>
          <a:p>
            <a:r>
              <a:rPr lang="de-DE" dirty="0"/>
              <a:t>2. Im Ordner befindet sich sicher eine Datei die Index-en.html heißt und mittels eines Browsers geöffnet werden kann (Chrome, Internet Explorer, Firefox).</a:t>
            </a:r>
            <a:br>
              <a:rPr lang="de-DE" dirty="0"/>
            </a:br>
            <a:r>
              <a:rPr lang="de-DE" dirty="0"/>
              <a:t>Beim Öffnen sieht es so aus, als wäre man auf einer Website gelandet, dem ist aber nicht der Fall. </a:t>
            </a:r>
            <a:br>
              <a:rPr lang="de-DE" dirty="0"/>
            </a:br>
            <a:r>
              <a:rPr lang="de-DE" dirty="0"/>
              <a:t>			</a:t>
            </a:r>
            <a:r>
              <a:rPr lang="de-DE" b="1" dirty="0">
                <a:sym typeface="Wingdings" panose="05000000000000000000" pitchFamily="2" charset="2"/>
              </a:rPr>
              <a:t> Weiter auf der nächsten Seite</a:t>
            </a:r>
            <a:endParaRPr lang="de-DE" b="1" dirty="0"/>
          </a:p>
        </p:txBody>
      </p:sp>
    </p:spTree>
    <p:extLst>
      <p:ext uri="{BB962C8B-B14F-4D97-AF65-F5344CB8AC3E}">
        <p14:creationId xmlns:p14="http://schemas.microsoft.com/office/powerpoint/2010/main" val="1829188263"/>
      </p:ext>
    </p:extLst>
  </p:cSld>
  <p:clrMapOvr>
    <a:masterClrMapping/>
  </p:clrMapOvr>
  <p:transition spd="med">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10" name="Textfeld 9">
            <a:extLst>
              <a:ext uri="{FF2B5EF4-FFF2-40B4-BE49-F238E27FC236}">
                <a16:creationId xmlns:a16="http://schemas.microsoft.com/office/drawing/2014/main" id="{A1AAC64C-840A-4AE5-91D2-1F8069BE620F}"/>
              </a:ext>
            </a:extLst>
          </p:cNvPr>
          <p:cNvSpPr txBox="1"/>
          <p:nvPr/>
        </p:nvSpPr>
        <p:spPr>
          <a:xfrm>
            <a:off x="335360" y="548680"/>
            <a:ext cx="6480720" cy="4524315"/>
          </a:xfrm>
          <a:prstGeom prst="rect">
            <a:avLst/>
          </a:prstGeom>
          <a:noFill/>
        </p:spPr>
        <p:txBody>
          <a:bodyPr wrap="square" rtlCol="0">
            <a:spAutoFit/>
          </a:bodyPr>
          <a:lstStyle/>
          <a:p>
            <a:pPr marL="285750" indent="-285750">
              <a:buFont typeface="Wingdings" panose="05000000000000000000" pitchFamily="2" charset="2"/>
              <a:buChar char="à"/>
            </a:pPr>
            <a:r>
              <a:rPr lang="de-DE" dirty="0">
                <a:sym typeface="Wingdings" panose="05000000000000000000" pitchFamily="2" charset="2"/>
              </a:rPr>
              <a:t>Fortsetzung</a:t>
            </a:r>
          </a:p>
          <a:p>
            <a:pPr marL="285750" indent="-285750">
              <a:buFont typeface="Wingdings" panose="05000000000000000000" pitchFamily="2" charset="2"/>
              <a:buChar char="à"/>
            </a:pPr>
            <a:endParaRPr lang="de-DE" dirty="0">
              <a:sym typeface="Wingdings" panose="05000000000000000000" pitchFamily="2" charset="2"/>
            </a:endParaRPr>
          </a:p>
          <a:p>
            <a:r>
              <a:rPr lang="de-DE" dirty="0">
                <a:sym typeface="Wingdings" panose="05000000000000000000" pitchFamily="2" charset="2"/>
              </a:rPr>
              <a:t>Die Seite sollte grob wie auf der rechten Seite angezeigt aussehen.</a:t>
            </a:r>
            <a:br>
              <a:rPr lang="de-DE" dirty="0">
                <a:sym typeface="Wingdings" panose="05000000000000000000" pitchFamily="2" charset="2"/>
              </a:rPr>
            </a:br>
            <a:r>
              <a:rPr lang="de-DE" dirty="0">
                <a:sym typeface="Wingdings" panose="05000000000000000000" pitchFamily="2" charset="2"/>
              </a:rPr>
              <a:t>Da es sich um eine lokale Ansicht handelt, sind hier nicht alle Links vollständig implementiert (bei einigen kann es sein, dass nichts passiert). Alle Links sind aber nach jetzigem Stand ungefährlich, sollten aber nicht unbedingt genutzt werden. Es handelt sich im größeren Sinne nur um eine einzelne Website, bei der die Links nur auf andere Positionen im Dokument verweisen.</a:t>
            </a:r>
          </a:p>
          <a:p>
            <a:endParaRPr lang="de-DE" dirty="0">
              <a:sym typeface="Wingdings" panose="05000000000000000000" pitchFamily="2" charset="2"/>
            </a:endParaRPr>
          </a:p>
          <a:p>
            <a:r>
              <a:rPr lang="de-DE" dirty="0">
                <a:sym typeface="Wingdings" panose="05000000000000000000" pitchFamily="2" charset="2"/>
              </a:rPr>
              <a:t>Die schöne Visualisierung wird wahrscheinlich einen Fehler anzeigen, wie unten zu sehen ist. Dies ist normal und wird auf der nächsten Seite näher erläutert.</a:t>
            </a:r>
            <a:br>
              <a:rPr lang="de-DE" dirty="0">
                <a:sym typeface="Wingdings" panose="05000000000000000000" pitchFamily="2" charset="2"/>
              </a:rPr>
            </a:br>
            <a:br>
              <a:rPr lang="de-DE" dirty="0">
                <a:sym typeface="Wingdings" panose="05000000000000000000" pitchFamily="2" charset="2"/>
              </a:rPr>
            </a:br>
            <a:br>
              <a:rPr lang="de-DE" dirty="0">
                <a:sym typeface="Wingdings" panose="05000000000000000000" pitchFamily="2" charset="2"/>
              </a:rPr>
            </a:br>
            <a:endParaRPr lang="de-DE" dirty="0"/>
          </a:p>
        </p:txBody>
      </p:sp>
      <p:pic>
        <p:nvPicPr>
          <p:cNvPr id="8" name="Grafik 7">
            <a:extLst>
              <a:ext uri="{FF2B5EF4-FFF2-40B4-BE49-F238E27FC236}">
                <a16:creationId xmlns:a16="http://schemas.microsoft.com/office/drawing/2014/main" id="{5ECB1D4D-5B79-4EF1-BEE6-A4420B736741}"/>
              </a:ext>
            </a:extLst>
          </p:cNvPr>
          <p:cNvPicPr>
            <a:picLocks noChangeAspect="1"/>
          </p:cNvPicPr>
          <p:nvPr/>
        </p:nvPicPr>
        <p:blipFill rotWithShape="1">
          <a:blip r:embed="rId2">
            <a:extLst>
              <a:ext uri="{28A0092B-C50C-407E-A947-70E740481C1C}">
                <a14:useLocalDpi xmlns:a14="http://schemas.microsoft.com/office/drawing/2010/main" val="0"/>
              </a:ext>
            </a:extLst>
          </a:blip>
          <a:srcRect t="6502" b="14891"/>
          <a:stretch/>
        </p:blipFill>
        <p:spPr>
          <a:xfrm>
            <a:off x="7248128" y="188639"/>
            <a:ext cx="4842767" cy="6598319"/>
          </a:xfrm>
          <a:prstGeom prst="rect">
            <a:avLst/>
          </a:prstGeom>
          <a:ln w="28575">
            <a:solidFill>
              <a:schemeClr val="accent1">
                <a:lumMod val="60000"/>
                <a:lumOff val="40000"/>
              </a:schemeClr>
            </a:solidFill>
          </a:ln>
        </p:spPr>
      </p:pic>
      <p:pic>
        <p:nvPicPr>
          <p:cNvPr id="9" name="Grafik 8">
            <a:extLst>
              <a:ext uri="{FF2B5EF4-FFF2-40B4-BE49-F238E27FC236}">
                <a16:creationId xmlns:a16="http://schemas.microsoft.com/office/drawing/2014/main" id="{BA873603-065D-471B-81B7-025FC9710214}"/>
              </a:ext>
            </a:extLst>
          </p:cNvPr>
          <p:cNvPicPr>
            <a:picLocks noChangeAspect="1"/>
          </p:cNvPicPr>
          <p:nvPr/>
        </p:nvPicPr>
        <p:blipFill rotWithShape="1">
          <a:blip r:embed="rId3"/>
          <a:srcRect l="5908" t="42650" r="898" b="5901"/>
          <a:stretch/>
        </p:blipFill>
        <p:spPr>
          <a:xfrm>
            <a:off x="1878857" y="4307306"/>
            <a:ext cx="4513725" cy="2378199"/>
          </a:xfrm>
          <a:prstGeom prst="rect">
            <a:avLst/>
          </a:prstGeom>
        </p:spPr>
      </p:pic>
      <p:sp>
        <p:nvSpPr>
          <p:cNvPr id="7" name="Textfeld 6">
            <a:extLst>
              <a:ext uri="{FF2B5EF4-FFF2-40B4-BE49-F238E27FC236}">
                <a16:creationId xmlns:a16="http://schemas.microsoft.com/office/drawing/2014/main" id="{325A621F-A7CC-41ED-ABFC-24BBE37EDA7D}"/>
              </a:ext>
            </a:extLst>
          </p:cNvPr>
          <p:cNvSpPr txBox="1"/>
          <p:nvPr/>
        </p:nvSpPr>
        <p:spPr>
          <a:xfrm>
            <a:off x="3654333" y="3933056"/>
            <a:ext cx="6096000" cy="400110"/>
          </a:xfrm>
          <a:prstGeom prst="rect">
            <a:avLst/>
          </a:prstGeom>
          <a:noFill/>
        </p:spPr>
        <p:txBody>
          <a:bodyPr wrap="square">
            <a:spAutoFit/>
          </a:bodyPr>
          <a:lstStyle/>
          <a:p>
            <a:r>
              <a:rPr lang="de-DE" sz="2000" b="0" i="0" u="none" strike="noStrike" baseline="0" dirty="0">
                <a:solidFill>
                  <a:srgbClr val="000000"/>
                </a:solidFill>
                <a:latin typeface="Wingdings" panose="05000000000000000000" pitchFamily="2" charset="2"/>
              </a:rPr>
              <a:t></a:t>
            </a:r>
            <a:r>
              <a:rPr lang="de-DE" sz="2000" b="1" i="0" u="none" strike="noStrike" baseline="0" dirty="0">
                <a:solidFill>
                  <a:srgbClr val="000000"/>
                </a:solidFill>
                <a:latin typeface="Calibri" panose="020F0502020204030204" pitchFamily="34" charset="0"/>
              </a:rPr>
              <a:t>Weiter auf der nächsten Seite</a:t>
            </a:r>
            <a:endParaRPr lang="en-US" sz="2000" dirty="0"/>
          </a:p>
        </p:txBody>
      </p:sp>
    </p:spTree>
    <p:extLst>
      <p:ext uri="{BB962C8B-B14F-4D97-AF65-F5344CB8AC3E}">
        <p14:creationId xmlns:p14="http://schemas.microsoft.com/office/powerpoint/2010/main" val="1051197020"/>
      </p:ext>
    </p:extLst>
  </p:cSld>
  <p:clrMapOvr>
    <a:masterClrMapping/>
  </p:clrMapOvr>
  <p:transition spd="med">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10" name="Textfeld 9">
            <a:extLst>
              <a:ext uri="{FF2B5EF4-FFF2-40B4-BE49-F238E27FC236}">
                <a16:creationId xmlns:a16="http://schemas.microsoft.com/office/drawing/2014/main" id="{A1AAC64C-840A-4AE5-91D2-1F8069BE620F}"/>
              </a:ext>
            </a:extLst>
          </p:cNvPr>
          <p:cNvSpPr txBox="1"/>
          <p:nvPr/>
        </p:nvSpPr>
        <p:spPr>
          <a:xfrm>
            <a:off x="148152" y="110805"/>
            <a:ext cx="8184232" cy="2746906"/>
          </a:xfrm>
          <a:prstGeom prst="rect">
            <a:avLst/>
          </a:prstGeom>
          <a:noFill/>
        </p:spPr>
        <p:txBody>
          <a:bodyPr wrap="square" rtlCol="0">
            <a:spAutoFit/>
          </a:bodyPr>
          <a:lstStyle/>
          <a:p>
            <a:r>
              <a:rPr lang="de-DE" dirty="0">
                <a:sym typeface="Wingdings" panose="05000000000000000000" pitchFamily="2" charset="2"/>
              </a:rPr>
              <a:t>3. Visualisierung starten</a:t>
            </a:r>
          </a:p>
          <a:p>
            <a:br>
              <a:rPr lang="de-DE" dirty="0">
                <a:sym typeface="Wingdings" panose="05000000000000000000" pitchFamily="2" charset="2"/>
              </a:rPr>
            </a:br>
            <a:r>
              <a:rPr lang="de-DE" dirty="0">
                <a:sym typeface="Wingdings" panose="05000000000000000000" pitchFamily="2" charset="2"/>
              </a:rPr>
              <a:t>Um die Visualisierung des Graphens zu starten muss leider eine Datei uns den Mitgesendeten Ordnern in das Darstellungsfenster gezogen werden. Dazu:</a:t>
            </a:r>
          </a:p>
          <a:p>
            <a:endParaRPr lang="de-DE" sz="1050" dirty="0">
              <a:sym typeface="Wingdings" panose="05000000000000000000" pitchFamily="2" charset="2"/>
            </a:endParaRPr>
          </a:p>
          <a:p>
            <a:pPr marL="342900" indent="-342900">
              <a:buAutoNum type="arabicPeriod"/>
            </a:pPr>
            <a:r>
              <a:rPr lang="de-DE" dirty="0" err="1">
                <a:sym typeface="Wingdings" panose="05000000000000000000" pitchFamily="2" charset="2"/>
              </a:rPr>
              <a:t>webvowl</a:t>
            </a:r>
            <a:r>
              <a:rPr lang="de-DE" dirty="0">
                <a:sym typeface="Wingdings" panose="05000000000000000000" pitchFamily="2" charset="2"/>
              </a:rPr>
              <a:t> Ordner öffnen</a:t>
            </a:r>
          </a:p>
          <a:p>
            <a:pPr marL="342900" indent="-342900">
              <a:buAutoNum type="arabicPeriod"/>
            </a:pPr>
            <a:r>
              <a:rPr lang="de-DE" dirty="0" err="1">
                <a:sym typeface="Wingdings" panose="05000000000000000000" pitchFamily="2" charset="2"/>
              </a:rPr>
              <a:t>data</a:t>
            </a:r>
            <a:r>
              <a:rPr lang="de-DE" dirty="0">
                <a:sym typeface="Wingdings" panose="05000000000000000000" pitchFamily="2" charset="2"/>
              </a:rPr>
              <a:t> Ordner öffnen</a:t>
            </a:r>
          </a:p>
          <a:p>
            <a:pPr marL="342900" indent="-342900">
              <a:buAutoNum type="arabicPeriod"/>
            </a:pPr>
            <a:r>
              <a:rPr lang="de-DE" dirty="0" err="1">
                <a:sym typeface="Wingdings" panose="05000000000000000000" pitchFamily="2" charset="2"/>
              </a:rPr>
              <a:t>ontology.json</a:t>
            </a:r>
            <a:r>
              <a:rPr lang="de-DE" dirty="0">
                <a:sym typeface="Wingdings" panose="05000000000000000000" pitchFamily="2" charset="2"/>
              </a:rPr>
              <a:t> in das Anzeigefenster im Browser ziehen,</a:t>
            </a:r>
            <a:br>
              <a:rPr lang="de-DE" dirty="0">
                <a:sym typeface="Wingdings" panose="05000000000000000000" pitchFamily="2" charset="2"/>
              </a:rPr>
            </a:br>
            <a:r>
              <a:rPr lang="de-DE" dirty="0">
                <a:sym typeface="Wingdings" panose="05000000000000000000" pitchFamily="2" charset="2"/>
              </a:rPr>
              <a:t>bis sich ein grünes Fenster öffnet, wie es unten zu sehen ist.</a:t>
            </a:r>
            <a:br>
              <a:rPr lang="de-DE" dirty="0">
                <a:sym typeface="Wingdings" panose="05000000000000000000" pitchFamily="2" charset="2"/>
              </a:rPr>
            </a:br>
            <a:endParaRPr lang="de-DE" dirty="0"/>
          </a:p>
        </p:txBody>
      </p:sp>
      <p:pic>
        <p:nvPicPr>
          <p:cNvPr id="3" name="Grafik 2">
            <a:extLst>
              <a:ext uri="{FF2B5EF4-FFF2-40B4-BE49-F238E27FC236}">
                <a16:creationId xmlns:a16="http://schemas.microsoft.com/office/drawing/2014/main" id="{CEEC1B34-6C23-4317-8707-9BBC56ED0568}"/>
              </a:ext>
            </a:extLst>
          </p:cNvPr>
          <p:cNvPicPr>
            <a:picLocks noChangeAspect="1"/>
          </p:cNvPicPr>
          <p:nvPr/>
        </p:nvPicPr>
        <p:blipFill>
          <a:blip r:embed="rId2"/>
          <a:stretch>
            <a:fillRect/>
          </a:stretch>
        </p:blipFill>
        <p:spPr>
          <a:xfrm>
            <a:off x="7891213" y="1164213"/>
            <a:ext cx="4152635" cy="1894640"/>
          </a:xfrm>
          <a:prstGeom prst="rect">
            <a:avLst/>
          </a:prstGeom>
        </p:spPr>
      </p:pic>
      <p:pic>
        <p:nvPicPr>
          <p:cNvPr id="18" name="Grafik 17">
            <a:extLst>
              <a:ext uri="{FF2B5EF4-FFF2-40B4-BE49-F238E27FC236}">
                <a16:creationId xmlns:a16="http://schemas.microsoft.com/office/drawing/2014/main" id="{778919F6-012A-4DD1-8818-CEBBD7A03507}"/>
              </a:ext>
            </a:extLst>
          </p:cNvPr>
          <p:cNvPicPr>
            <a:picLocks noChangeAspect="1"/>
          </p:cNvPicPr>
          <p:nvPr/>
        </p:nvPicPr>
        <p:blipFill>
          <a:blip r:embed="rId3"/>
          <a:stretch>
            <a:fillRect/>
          </a:stretch>
        </p:blipFill>
        <p:spPr>
          <a:xfrm>
            <a:off x="12576" y="3572712"/>
            <a:ext cx="8184232" cy="3072560"/>
          </a:xfrm>
          <a:prstGeom prst="rect">
            <a:avLst/>
          </a:prstGeom>
        </p:spPr>
      </p:pic>
      <p:pic>
        <p:nvPicPr>
          <p:cNvPr id="11" name="Grafik 10">
            <a:extLst>
              <a:ext uri="{FF2B5EF4-FFF2-40B4-BE49-F238E27FC236}">
                <a16:creationId xmlns:a16="http://schemas.microsoft.com/office/drawing/2014/main" id="{C9170FED-4030-41AE-8E4F-E10AC0F86264}"/>
              </a:ext>
            </a:extLst>
          </p:cNvPr>
          <p:cNvPicPr>
            <a:picLocks noChangeAspect="1"/>
          </p:cNvPicPr>
          <p:nvPr/>
        </p:nvPicPr>
        <p:blipFill>
          <a:blip r:embed="rId4"/>
          <a:stretch>
            <a:fillRect/>
          </a:stretch>
        </p:blipFill>
        <p:spPr>
          <a:xfrm>
            <a:off x="6359809" y="2595626"/>
            <a:ext cx="3607721" cy="1646022"/>
          </a:xfrm>
          <a:prstGeom prst="rect">
            <a:avLst/>
          </a:prstGeom>
        </p:spPr>
      </p:pic>
      <p:sp>
        <p:nvSpPr>
          <p:cNvPr id="19" name="Pfeil: nach rechts gekrümmt 18">
            <a:extLst>
              <a:ext uri="{FF2B5EF4-FFF2-40B4-BE49-F238E27FC236}">
                <a16:creationId xmlns:a16="http://schemas.microsoft.com/office/drawing/2014/main" id="{27697E4F-8AF0-4B4D-9A52-01E58B008622}"/>
              </a:ext>
            </a:extLst>
          </p:cNvPr>
          <p:cNvSpPr/>
          <p:nvPr/>
        </p:nvSpPr>
        <p:spPr>
          <a:xfrm rot="4961915">
            <a:off x="7549288" y="983901"/>
            <a:ext cx="576064" cy="2566141"/>
          </a:xfrm>
          <a:prstGeom prst="curv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20" name="Pfeil: nach rechts gekrümmt 19">
            <a:extLst>
              <a:ext uri="{FF2B5EF4-FFF2-40B4-BE49-F238E27FC236}">
                <a16:creationId xmlns:a16="http://schemas.microsoft.com/office/drawing/2014/main" id="{6C32AD3C-57AC-4D77-86AB-BC1C65E53C9B}"/>
              </a:ext>
            </a:extLst>
          </p:cNvPr>
          <p:cNvSpPr/>
          <p:nvPr/>
        </p:nvSpPr>
        <p:spPr>
          <a:xfrm rot="5171685">
            <a:off x="5916002" y="1875058"/>
            <a:ext cx="576064" cy="2870243"/>
          </a:xfrm>
          <a:prstGeom prst="curv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solidFill>
                <a:schemeClr val="tx1"/>
              </a:solidFill>
            </a:endParaRPr>
          </a:p>
        </p:txBody>
      </p:sp>
      <p:sp>
        <p:nvSpPr>
          <p:cNvPr id="21" name="Pfeil: nach rechts gekrümmt 20">
            <a:extLst>
              <a:ext uri="{FF2B5EF4-FFF2-40B4-BE49-F238E27FC236}">
                <a16:creationId xmlns:a16="http://schemas.microsoft.com/office/drawing/2014/main" id="{8A576BF9-B82C-4EF6-86C9-0CC56AC4EDB7}"/>
              </a:ext>
            </a:extLst>
          </p:cNvPr>
          <p:cNvSpPr/>
          <p:nvPr/>
        </p:nvSpPr>
        <p:spPr>
          <a:xfrm rot="5171685">
            <a:off x="4464928" y="3134232"/>
            <a:ext cx="576064" cy="2577875"/>
          </a:xfrm>
          <a:prstGeom prst="curv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solidFill>
                <a:schemeClr val="tx1"/>
              </a:solidFill>
            </a:endParaRPr>
          </a:p>
        </p:txBody>
      </p:sp>
      <p:sp>
        <p:nvSpPr>
          <p:cNvPr id="22" name="Rechteck 21">
            <a:extLst>
              <a:ext uri="{FF2B5EF4-FFF2-40B4-BE49-F238E27FC236}">
                <a16:creationId xmlns:a16="http://schemas.microsoft.com/office/drawing/2014/main" id="{E6BA1799-38E5-4679-BFC8-06BBFE88CD79}"/>
              </a:ext>
            </a:extLst>
          </p:cNvPr>
          <p:cNvSpPr/>
          <p:nvPr/>
        </p:nvSpPr>
        <p:spPr>
          <a:xfrm>
            <a:off x="7070276" y="1188203"/>
            <a:ext cx="720069" cy="923330"/>
          </a:xfrm>
          <a:prstGeom prst="rect">
            <a:avLst/>
          </a:prstGeom>
          <a:noFill/>
        </p:spPr>
        <p:txBody>
          <a:bodyPr wrap="none" lIns="91440" tIns="45720" rIns="91440" bIns="45720">
            <a:spAutoFit/>
          </a:bodyPr>
          <a:lstStyle/>
          <a:p>
            <a:pPr algn="ctr"/>
            <a:r>
              <a:rPr lang="de-DE" sz="5400" b="1" dirty="0">
                <a:ln w="22225">
                  <a:solidFill>
                    <a:schemeClr val="accent2"/>
                  </a:solidFill>
                  <a:prstDash val="solid"/>
                </a:ln>
                <a:solidFill>
                  <a:schemeClr val="accent6"/>
                </a:solidFill>
              </a:rPr>
              <a:t>1.</a:t>
            </a:r>
          </a:p>
        </p:txBody>
      </p:sp>
      <p:sp>
        <p:nvSpPr>
          <p:cNvPr id="23" name="Rechteck 22">
            <a:extLst>
              <a:ext uri="{FF2B5EF4-FFF2-40B4-BE49-F238E27FC236}">
                <a16:creationId xmlns:a16="http://schemas.microsoft.com/office/drawing/2014/main" id="{E4A0F267-BD7D-42B1-819A-551EEC35EBBA}"/>
              </a:ext>
            </a:extLst>
          </p:cNvPr>
          <p:cNvSpPr/>
          <p:nvPr/>
        </p:nvSpPr>
        <p:spPr>
          <a:xfrm>
            <a:off x="5082386" y="2361958"/>
            <a:ext cx="720069" cy="923330"/>
          </a:xfrm>
          <a:prstGeom prst="rect">
            <a:avLst/>
          </a:prstGeom>
          <a:noFill/>
        </p:spPr>
        <p:txBody>
          <a:bodyPr wrap="none" lIns="91440" tIns="45720" rIns="91440" bIns="45720">
            <a:spAutoFit/>
          </a:bodyPr>
          <a:lstStyle/>
          <a:p>
            <a:pPr algn="ctr"/>
            <a:r>
              <a:rPr lang="de-DE" sz="5400" b="1" dirty="0">
                <a:ln w="22225">
                  <a:solidFill>
                    <a:schemeClr val="accent2"/>
                  </a:solidFill>
                  <a:prstDash val="solid"/>
                </a:ln>
                <a:solidFill>
                  <a:schemeClr val="accent6"/>
                </a:solidFill>
              </a:rPr>
              <a:t>2.</a:t>
            </a:r>
          </a:p>
        </p:txBody>
      </p:sp>
      <p:sp>
        <p:nvSpPr>
          <p:cNvPr id="24" name="Rechteck 23">
            <a:extLst>
              <a:ext uri="{FF2B5EF4-FFF2-40B4-BE49-F238E27FC236}">
                <a16:creationId xmlns:a16="http://schemas.microsoft.com/office/drawing/2014/main" id="{70111DAC-5296-4FD9-A9B8-D54DD4762B75}"/>
              </a:ext>
            </a:extLst>
          </p:cNvPr>
          <p:cNvSpPr/>
          <p:nvPr/>
        </p:nvSpPr>
        <p:spPr>
          <a:xfrm>
            <a:off x="3600238" y="3371570"/>
            <a:ext cx="720069" cy="923330"/>
          </a:xfrm>
          <a:prstGeom prst="rect">
            <a:avLst/>
          </a:prstGeom>
          <a:noFill/>
        </p:spPr>
        <p:txBody>
          <a:bodyPr wrap="none" lIns="91440" tIns="45720" rIns="91440" bIns="45720">
            <a:spAutoFit/>
          </a:bodyPr>
          <a:lstStyle/>
          <a:p>
            <a:pPr algn="ctr"/>
            <a:r>
              <a:rPr lang="de-DE" sz="5400" b="1" dirty="0">
                <a:ln w="22225">
                  <a:solidFill>
                    <a:schemeClr val="accent2"/>
                  </a:solidFill>
                  <a:prstDash val="solid"/>
                </a:ln>
                <a:solidFill>
                  <a:schemeClr val="accent6"/>
                </a:solidFill>
              </a:rPr>
              <a:t>3.</a:t>
            </a:r>
          </a:p>
        </p:txBody>
      </p:sp>
    </p:spTree>
    <p:extLst>
      <p:ext uri="{BB962C8B-B14F-4D97-AF65-F5344CB8AC3E}">
        <p14:creationId xmlns:p14="http://schemas.microsoft.com/office/powerpoint/2010/main" val="1375480759"/>
      </p:ext>
    </p:extLst>
  </p:cSld>
  <p:clrMapOvr>
    <a:masterClrMapping/>
  </p:clrMapOvr>
  <p:transition spd="med">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68149D3-017D-DF96-BFE8-607F94181555}"/>
              </a:ext>
            </a:extLst>
          </p:cNvPr>
          <p:cNvSpPr>
            <a:spLocks noGrp="1"/>
          </p:cNvSpPr>
          <p:nvPr>
            <p:ph idx="1"/>
          </p:nvPr>
        </p:nvSpPr>
        <p:spPr/>
        <p:txBody>
          <a:bodyPr/>
          <a:lstStyle/>
          <a:p>
            <a:r>
              <a:rPr lang="de-DE" dirty="0"/>
              <a:t>Nichts zu schlimmes !</a:t>
            </a:r>
          </a:p>
        </p:txBody>
      </p:sp>
      <p:sp>
        <p:nvSpPr>
          <p:cNvPr id="5" name="Title 4">
            <a:extLst>
              <a:ext uri="{FF2B5EF4-FFF2-40B4-BE49-F238E27FC236}">
                <a16:creationId xmlns:a16="http://schemas.microsoft.com/office/drawing/2014/main" id="{3C552F5F-E831-7234-B5DD-D6C7686255B9}"/>
              </a:ext>
            </a:extLst>
          </p:cNvPr>
          <p:cNvSpPr>
            <a:spLocks noGrp="1"/>
          </p:cNvSpPr>
          <p:nvPr>
            <p:ph type="title"/>
          </p:nvPr>
        </p:nvSpPr>
        <p:spPr/>
        <p:txBody>
          <a:bodyPr>
            <a:normAutofit fontScale="90000"/>
          </a:bodyPr>
          <a:lstStyle/>
          <a:p>
            <a:pPr algn="ctr"/>
            <a:r>
              <a:rPr lang="de-DE" dirty="0"/>
              <a:t>Technische Hürden</a:t>
            </a:r>
            <a:endParaRPr lang="de-DE" dirty="0">
              <a:highlight>
                <a:srgbClr val="FFFF00"/>
              </a:highlight>
            </a:endParaRPr>
          </a:p>
        </p:txBody>
      </p:sp>
    </p:spTree>
    <p:extLst>
      <p:ext uri="{BB962C8B-B14F-4D97-AF65-F5344CB8AC3E}">
        <p14:creationId xmlns:p14="http://schemas.microsoft.com/office/powerpoint/2010/main" val="2354157758"/>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0" y="1268760"/>
            <a:ext cx="11683526" cy="4747369"/>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92500" lnSpcReduction="2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de-DE" sz="1800" b="0" i="0" u="none" strike="noStrike" baseline="0" dirty="0">
                <a:solidFill>
                  <a:srgbClr val="000000"/>
                </a:solidFill>
                <a:latin typeface="Calibri" panose="020F0502020204030204" pitchFamily="34" charset="0"/>
              </a:rPr>
              <a:t>Derzeit fehlen noch ein paar kleinere Aspekte, die ich aber erst einrichten würde, nachdem ich Rückmeldung zur Installation erhalten habe, da sie sehr zeitaufwändig sind und ich diese Arbeit erneut machen müsste, wenn es größere Änderungen gibt. So sind z.B. die Texte in der Dokumentationsdatei derzeit nur Platzhalter und die Anordnung der einzelnen Elemente der „Website“ auch noch nicht final (ich hoffe auf konstruktive Kritik).</a:t>
            </a:r>
          </a:p>
          <a:p>
            <a:pPr marL="0" indent="0">
              <a:buNone/>
            </a:pPr>
            <a:endParaRPr lang="de-DE" sz="1800" dirty="0">
              <a:solidFill>
                <a:srgbClr val="000000"/>
              </a:solidFill>
              <a:latin typeface="Calibri" panose="020F0502020204030204" pitchFamily="34" charset="0"/>
            </a:endParaRPr>
          </a:p>
          <a:p>
            <a:pPr marL="0" indent="0">
              <a:buNone/>
            </a:pPr>
            <a:r>
              <a:rPr lang="de-DE" sz="1800" b="0" i="0" u="none" strike="noStrike" baseline="0" dirty="0">
                <a:solidFill>
                  <a:srgbClr val="000000"/>
                </a:solidFill>
                <a:latin typeface="Calibri" panose="020F0502020204030204" pitchFamily="34" charset="0"/>
              </a:rPr>
              <a:t>Abseits davon gibt es derzeit noch einige Aspekte, die wir nicht implementieren können, gerne aber würden, da uns die Möglichkeiten/Rechte fehlen. So würden wir gerne Links in der Website einbauen, um die PDFs der Abstracts direkt zum Download bereitzustellen.</a:t>
            </a:r>
          </a:p>
          <a:p>
            <a:pPr marL="0" indent="0">
              <a:buNone/>
            </a:pPr>
            <a:endParaRPr lang="de-DE" sz="1800" b="0" i="0" u="none" strike="noStrike" baseline="0" dirty="0">
              <a:solidFill>
                <a:srgbClr val="000000"/>
              </a:solidFill>
              <a:latin typeface="Calibri" panose="020F0502020204030204" pitchFamily="34" charset="0"/>
            </a:endParaRPr>
          </a:p>
          <a:p>
            <a:pPr marL="0" indent="0">
              <a:buNone/>
            </a:pPr>
            <a:r>
              <a:rPr lang="de-DE" sz="1800" b="0" i="0" u="none" strike="noStrike" baseline="0" dirty="0">
                <a:solidFill>
                  <a:srgbClr val="000000"/>
                </a:solidFill>
                <a:latin typeface="Calibri" panose="020F0502020204030204" pitchFamily="34" charset="0"/>
              </a:rPr>
              <a:t>Dass wir die Website der </a:t>
            </a:r>
            <a:r>
              <a:rPr lang="de-DE" sz="1800" b="0" i="0" u="none" strike="noStrike" baseline="0" dirty="0" err="1">
                <a:solidFill>
                  <a:srgbClr val="000000"/>
                </a:solidFill>
                <a:latin typeface="Calibri" panose="020F0502020204030204" pitchFamily="34" charset="0"/>
              </a:rPr>
              <a:t>Dechemazur</a:t>
            </a:r>
            <a:r>
              <a:rPr lang="de-DE" sz="1800" b="0" i="0" u="none" strike="noStrike" baseline="0" dirty="0">
                <a:solidFill>
                  <a:srgbClr val="000000"/>
                </a:solidFill>
                <a:latin typeface="Calibri" panose="020F0502020204030204" pitchFamily="34" charset="0"/>
              </a:rPr>
              <a:t> </a:t>
            </a:r>
            <a:r>
              <a:rPr lang="de-DE" sz="1800" b="0" i="0" u="none" strike="noStrike" baseline="0" dirty="0" err="1">
                <a:solidFill>
                  <a:srgbClr val="000000"/>
                </a:solidFill>
                <a:latin typeface="Calibri" panose="020F0502020204030204" pitchFamily="34" charset="0"/>
              </a:rPr>
              <a:t>Katalytiker</a:t>
            </a:r>
            <a:r>
              <a:rPr lang="de-DE" sz="1800" b="0" i="0" u="none" strike="noStrike" baseline="0" dirty="0">
                <a:solidFill>
                  <a:srgbClr val="000000"/>
                </a:solidFill>
                <a:latin typeface="Calibri" panose="020F0502020204030204" pitchFamily="34" charset="0"/>
              </a:rPr>
              <a:t>-Tagung gerne ergänzen würden, um die Dienstleistungen besser implementieren zu können, wäre sehr vorteilhaft. Gerne würden wir hierzu mit einem Techniker sprechen, was alles möglich wäre und was wir von unserer  Seite noch liefern müssten.</a:t>
            </a:r>
          </a:p>
          <a:p>
            <a:pPr marL="0" indent="0">
              <a:buNone/>
            </a:pPr>
            <a:endParaRPr lang="de-DE" sz="1800" b="0" i="0" u="none" strike="noStrike" baseline="0" dirty="0">
              <a:solidFill>
                <a:srgbClr val="000000"/>
              </a:solidFill>
              <a:latin typeface="Calibri" panose="020F0502020204030204" pitchFamily="34" charset="0"/>
            </a:endParaRPr>
          </a:p>
          <a:p>
            <a:pPr marL="0" indent="0">
              <a:buNone/>
            </a:pPr>
            <a:r>
              <a:rPr lang="de-DE" sz="1800" b="0" i="0" u="none" strike="noStrike" baseline="0" dirty="0">
                <a:solidFill>
                  <a:srgbClr val="000000"/>
                </a:solidFill>
                <a:latin typeface="Calibri" panose="020F0502020204030204" pitchFamily="34" charset="0"/>
              </a:rPr>
              <a:t>Als Letztes darf ich kurz darauf aufmerksam machen, dass die Erstellung dieser Tools natürlich vereinfacht werden könnte, wenn wir die Daten nicht zuerst aus den PDFs der Abstracts auslesen müssen (das ist auch sehr fehleranfällig), sondern „nur diese“ Informationen (ich möchte keine Probleme in datenschutztechnischer Natur verschulden), direkter zur Verfügung gestellt bekommen könnten. </a:t>
            </a:r>
            <a:br>
              <a:rPr lang="de-DE" sz="2000" dirty="0"/>
            </a:br>
            <a:br>
              <a:rPr lang="de-DE" sz="2000" dirty="0"/>
            </a:br>
            <a:r>
              <a:rPr lang="de-DE" sz="2000" dirty="0">
                <a:sym typeface="Wingdings" panose="05000000000000000000" pitchFamily="2" charset="2"/>
              </a:rPr>
              <a:t> Gerne würden wir natürlich zeigen, dass es sich hierbei um ein System handeln kann, das wachsen kann.</a:t>
            </a:r>
            <a:endParaRPr lang="de-DE" sz="2000" dirty="0"/>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838200" y="476250"/>
            <a:ext cx="9218613" cy="720725"/>
          </a:xfrm>
        </p:spPr>
        <p:txBody>
          <a:bodyPr>
            <a:normAutofit/>
          </a:bodyPr>
          <a:lstStyle/>
          <a:p>
            <a:r>
              <a:rPr lang="de-DE"/>
              <a:t>Technische Hürden</a:t>
            </a:r>
          </a:p>
        </p:txBody>
      </p:sp>
    </p:spTree>
    <p:extLst>
      <p:ext uri="{BB962C8B-B14F-4D97-AF65-F5344CB8AC3E}">
        <p14:creationId xmlns:p14="http://schemas.microsoft.com/office/powerpoint/2010/main" val="3435474852"/>
      </p:ext>
    </p:extLst>
  </p:cSld>
  <p:clrMapOvr>
    <a:masterClrMapping/>
  </p:clrMapOvr>
  <p:transition spd="med">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hteck: abgerundete Ecken 24">
            <a:extLst>
              <a:ext uri="{FF2B5EF4-FFF2-40B4-BE49-F238E27FC236}">
                <a16:creationId xmlns:a16="http://schemas.microsoft.com/office/drawing/2014/main" id="{9E0DD229-CF7C-4A27-8420-24EBB6619196}"/>
              </a:ext>
            </a:extLst>
          </p:cNvPr>
          <p:cNvSpPr/>
          <p:nvPr/>
        </p:nvSpPr>
        <p:spPr>
          <a:xfrm>
            <a:off x="243229" y="5650636"/>
            <a:ext cx="471508" cy="46049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abgerundete Ecken 20">
            <a:extLst>
              <a:ext uri="{FF2B5EF4-FFF2-40B4-BE49-F238E27FC236}">
                <a16:creationId xmlns:a16="http://schemas.microsoft.com/office/drawing/2014/main" id="{891F3ACE-9B34-47FD-968A-AC039E1A9BED}"/>
              </a:ext>
            </a:extLst>
          </p:cNvPr>
          <p:cNvSpPr/>
          <p:nvPr/>
        </p:nvSpPr>
        <p:spPr>
          <a:xfrm>
            <a:off x="2737505" y="5724533"/>
            <a:ext cx="391812" cy="36933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abgerundete Ecken 5">
            <a:extLst>
              <a:ext uri="{FF2B5EF4-FFF2-40B4-BE49-F238E27FC236}">
                <a16:creationId xmlns:a16="http://schemas.microsoft.com/office/drawing/2014/main" id="{44A6822D-38EA-483C-98B7-979527261DBF}"/>
              </a:ext>
            </a:extLst>
          </p:cNvPr>
          <p:cNvSpPr/>
          <p:nvPr/>
        </p:nvSpPr>
        <p:spPr>
          <a:xfrm>
            <a:off x="5345980" y="5712390"/>
            <a:ext cx="420316" cy="36933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p:cNvPicPr>
            <a:picLocks noChangeAspect="1"/>
          </p:cNvPicPr>
          <p:nvPr/>
        </p:nvPicPr>
        <p:blipFill>
          <a:blip r:embed="rId2">
            <a:extLst>
              <a:ext uri="{28A0092B-C50C-407E-A947-70E740481C1C}">
                <a14:useLocalDpi xmlns:a14="http://schemas.microsoft.com/office/drawing/2010/main" val="0"/>
              </a:ext>
            </a:extLst>
          </a:blip>
          <a:srcRect l="899" r="899"/>
          <a:stretch/>
        </p:blipFill>
        <p:spPr>
          <a:xfrm>
            <a:off x="4105244" y="809728"/>
            <a:ext cx="3981511" cy="1863080"/>
          </a:xfrm>
          <a:prstGeom prst="rect">
            <a:avLst/>
          </a:prstGeom>
        </p:spPr>
      </p:pic>
      <p:grpSp>
        <p:nvGrpSpPr>
          <p:cNvPr id="15" name="Gruppieren 14">
            <a:extLst>
              <a:ext uri="{FF2B5EF4-FFF2-40B4-BE49-F238E27FC236}">
                <a16:creationId xmlns:a16="http://schemas.microsoft.com/office/drawing/2014/main" id="{E7B8B5EF-CB21-4CA4-86AF-3EA38BF51C8D}"/>
              </a:ext>
            </a:extLst>
          </p:cNvPr>
          <p:cNvGrpSpPr/>
          <p:nvPr/>
        </p:nvGrpSpPr>
        <p:grpSpPr>
          <a:xfrm>
            <a:off x="5345980" y="5682985"/>
            <a:ext cx="3747183" cy="428142"/>
            <a:chOff x="5845925" y="6097202"/>
            <a:chExt cx="3747183" cy="428142"/>
          </a:xfrm>
        </p:grpSpPr>
        <p:pic>
          <p:nvPicPr>
            <p:cNvPr id="7" name="Grafik 6">
              <a:extLst>
                <a:ext uri="{FF2B5EF4-FFF2-40B4-BE49-F238E27FC236}">
                  <a16:creationId xmlns:a16="http://schemas.microsoft.com/office/drawing/2014/main" id="{27F96B1F-2E25-4784-A4AA-91C58843D4AC}"/>
                </a:ext>
              </a:extLst>
            </p:cNvPr>
            <p:cNvPicPr>
              <a:picLocks noChangeAspect="1"/>
            </p:cNvPicPr>
            <p:nvPr/>
          </p:nvPicPr>
          <p:blipFill>
            <a:blip r:embed="rId3" cstate="print">
              <a:biLevel thresh="75000"/>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845925" y="6097202"/>
              <a:ext cx="428142" cy="428142"/>
            </a:xfrm>
            <a:prstGeom prst="rect">
              <a:avLst/>
            </a:prstGeom>
          </p:spPr>
        </p:pic>
        <p:sp>
          <p:nvSpPr>
            <p:cNvPr id="12" name="Textfeld 11">
              <a:extLst>
                <a:ext uri="{FF2B5EF4-FFF2-40B4-BE49-F238E27FC236}">
                  <a16:creationId xmlns:a16="http://schemas.microsoft.com/office/drawing/2014/main" id="{4D85A2D9-07F2-464D-874D-DFE940F473DA}"/>
                </a:ext>
              </a:extLst>
            </p:cNvPr>
            <p:cNvSpPr txBox="1"/>
            <p:nvPr/>
          </p:nvSpPr>
          <p:spPr>
            <a:xfrm>
              <a:off x="6304155" y="6126607"/>
              <a:ext cx="3288953" cy="369332"/>
            </a:xfrm>
            <a:prstGeom prst="rect">
              <a:avLst/>
            </a:prstGeom>
            <a:noFill/>
          </p:spPr>
          <p:txBody>
            <a:bodyPr wrap="square">
              <a:spAutoFit/>
            </a:bodyPr>
            <a:lstStyle/>
            <a:p>
              <a:r>
                <a:rPr lang="de-DE" b="1" dirty="0">
                  <a:solidFill>
                    <a:schemeClr val="bg1"/>
                  </a:solidFill>
                  <a:hlinkClick r:id="rId5">
                    <a:extLst>
                      <a:ext uri="{A12FA001-AC4F-418D-AE19-62706E023703}">
                        <ahyp:hlinkClr xmlns:ahyp="http://schemas.microsoft.com/office/drawing/2018/hyperlinkcolor" val="tx"/>
                      </a:ext>
                    </a:extLst>
                  </a:hlinkClick>
                </a:rPr>
                <a:t>linkedin.com/</a:t>
              </a:r>
              <a:r>
                <a:rPr lang="de-DE" b="1" dirty="0" err="1">
                  <a:solidFill>
                    <a:schemeClr val="bg1"/>
                  </a:solidFill>
                  <a:hlinkClick r:id="rId5">
                    <a:extLst>
                      <a:ext uri="{A12FA001-AC4F-418D-AE19-62706E023703}">
                        <ahyp:hlinkClr xmlns:ahyp="http://schemas.microsoft.com/office/drawing/2018/hyperlinkcolor" val="tx"/>
                      </a:ext>
                    </a:extLst>
                  </a:hlinkClick>
                </a:rPr>
                <a:t>company</a:t>
              </a:r>
              <a:r>
                <a:rPr lang="de-DE" b="1" dirty="0">
                  <a:solidFill>
                    <a:schemeClr val="bg1"/>
                  </a:solidFill>
                  <a:hlinkClick r:id="rId5">
                    <a:extLst>
                      <a:ext uri="{A12FA001-AC4F-418D-AE19-62706E023703}">
                        <ahyp:hlinkClr xmlns:ahyp="http://schemas.microsoft.com/office/drawing/2018/hyperlinkcolor" val="tx"/>
                      </a:ext>
                    </a:extLst>
                  </a:hlinkClick>
                </a:rPr>
                <a:t>/nfdi4cat</a:t>
              </a:r>
              <a:endParaRPr lang="de-DE" b="1" dirty="0">
                <a:solidFill>
                  <a:schemeClr val="bg1"/>
                </a:solidFill>
              </a:endParaRPr>
            </a:p>
          </p:txBody>
        </p:sp>
      </p:grpSp>
      <p:grpSp>
        <p:nvGrpSpPr>
          <p:cNvPr id="30" name="Gruppieren 29">
            <a:extLst>
              <a:ext uri="{FF2B5EF4-FFF2-40B4-BE49-F238E27FC236}">
                <a16:creationId xmlns:a16="http://schemas.microsoft.com/office/drawing/2014/main" id="{9B09DEBC-F3BA-42AD-8BED-E3EC3C93EC19}"/>
              </a:ext>
            </a:extLst>
          </p:cNvPr>
          <p:cNvGrpSpPr/>
          <p:nvPr/>
        </p:nvGrpSpPr>
        <p:grpSpPr>
          <a:xfrm>
            <a:off x="2737505" y="5617048"/>
            <a:ext cx="2304729" cy="518934"/>
            <a:chOff x="7973796" y="5640653"/>
            <a:chExt cx="2304729" cy="518934"/>
          </a:xfrm>
        </p:grpSpPr>
        <p:pic>
          <p:nvPicPr>
            <p:cNvPr id="26" name="Grafik 25">
              <a:extLst>
                <a:ext uri="{FF2B5EF4-FFF2-40B4-BE49-F238E27FC236}">
                  <a16:creationId xmlns:a16="http://schemas.microsoft.com/office/drawing/2014/main" id="{F62ED41F-32B0-45AA-8687-4CC0A05FC13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6818" t="-1026" r="15907" b="17967"/>
            <a:stretch/>
          </p:blipFill>
          <p:spPr>
            <a:xfrm>
              <a:off x="7973796" y="5640653"/>
              <a:ext cx="394117" cy="518934"/>
            </a:xfrm>
            <a:prstGeom prst="rect">
              <a:avLst/>
            </a:prstGeom>
          </p:spPr>
        </p:pic>
        <p:sp>
          <p:nvSpPr>
            <p:cNvPr id="29" name="Textfeld 28">
              <a:extLst>
                <a:ext uri="{FF2B5EF4-FFF2-40B4-BE49-F238E27FC236}">
                  <a16:creationId xmlns:a16="http://schemas.microsoft.com/office/drawing/2014/main" id="{649E193E-1F13-40BB-9A18-0E57C7A706C7}"/>
                </a:ext>
              </a:extLst>
            </p:cNvPr>
            <p:cNvSpPr txBox="1"/>
            <p:nvPr/>
          </p:nvSpPr>
          <p:spPr>
            <a:xfrm>
              <a:off x="8338604" y="5722314"/>
              <a:ext cx="1939921" cy="369332"/>
            </a:xfrm>
            <a:prstGeom prst="rect">
              <a:avLst/>
            </a:prstGeom>
            <a:noFill/>
          </p:spPr>
          <p:txBody>
            <a:bodyPr wrap="square">
              <a:spAutoFit/>
            </a:bodyPr>
            <a:lstStyle/>
            <a:p>
              <a:r>
                <a:rPr lang="de-DE" sz="1800" b="1" dirty="0">
                  <a:solidFill>
                    <a:schemeClr val="bg1"/>
                  </a:solidFill>
                  <a:hlinkClick r:id="rId7">
                    <a:extLst>
                      <a:ext uri="{A12FA001-AC4F-418D-AE19-62706E023703}">
                        <ahyp:hlinkClr xmlns:ahyp="http://schemas.microsoft.com/office/drawing/2018/hyperlinkcolor" val="tx"/>
                      </a:ext>
                    </a:extLst>
                  </a:hlinkClick>
                </a:rPr>
                <a:t>info@nfdi4cat.org</a:t>
              </a:r>
              <a:endParaRPr lang="de-DE" b="1" dirty="0">
                <a:solidFill>
                  <a:schemeClr val="bg1"/>
                </a:solidFill>
              </a:endParaRPr>
            </a:p>
          </p:txBody>
        </p:sp>
      </p:grpSp>
      <p:sp>
        <p:nvSpPr>
          <p:cNvPr id="34" name="Textfeld 33">
            <a:extLst>
              <a:ext uri="{FF2B5EF4-FFF2-40B4-BE49-F238E27FC236}">
                <a16:creationId xmlns:a16="http://schemas.microsoft.com/office/drawing/2014/main" id="{B29258EF-DF3B-44E2-92D2-628C6EE64F5C}"/>
              </a:ext>
            </a:extLst>
          </p:cNvPr>
          <p:cNvSpPr txBox="1"/>
          <p:nvPr/>
        </p:nvSpPr>
        <p:spPr>
          <a:xfrm>
            <a:off x="1432108" y="3534136"/>
            <a:ext cx="9219391" cy="461665"/>
          </a:xfrm>
          <a:prstGeom prst="rect">
            <a:avLst/>
          </a:prstGeom>
          <a:solidFill>
            <a:schemeClr val="bg1">
              <a:lumMod val="50000"/>
              <a:alpha val="20000"/>
            </a:schemeClr>
          </a:solidFill>
        </p:spPr>
        <p:txBody>
          <a:bodyPr wrap="square">
            <a:spAutoFit/>
          </a:bodyPr>
          <a:lstStyle/>
          <a:p>
            <a:r>
              <a:rPr lang="en-US" sz="2400" b="1" dirty="0">
                <a:solidFill>
                  <a:schemeClr val="bg1"/>
                </a:solidFill>
              </a:rPr>
              <a:t>Would you like to exchange ideas or become a part of the community? </a:t>
            </a:r>
          </a:p>
        </p:txBody>
      </p:sp>
      <p:grpSp>
        <p:nvGrpSpPr>
          <p:cNvPr id="5" name="Gruppieren 4">
            <a:extLst>
              <a:ext uri="{FF2B5EF4-FFF2-40B4-BE49-F238E27FC236}">
                <a16:creationId xmlns:a16="http://schemas.microsoft.com/office/drawing/2014/main" id="{D3CD1A7C-A7C1-49F3-8F27-DF8DF99D5F3A}"/>
              </a:ext>
            </a:extLst>
          </p:cNvPr>
          <p:cNvGrpSpPr/>
          <p:nvPr/>
        </p:nvGrpSpPr>
        <p:grpSpPr>
          <a:xfrm>
            <a:off x="210223" y="5666185"/>
            <a:ext cx="3124440" cy="447597"/>
            <a:chOff x="3383484" y="5768953"/>
            <a:chExt cx="3124440" cy="447597"/>
          </a:xfrm>
        </p:grpSpPr>
        <p:pic>
          <p:nvPicPr>
            <p:cNvPr id="4" name="Grafik 3">
              <a:extLst>
                <a:ext uri="{FF2B5EF4-FFF2-40B4-BE49-F238E27FC236}">
                  <a16:creationId xmlns:a16="http://schemas.microsoft.com/office/drawing/2014/main" id="{89BCBC13-34CB-4AD1-A973-1004125B08DF}"/>
                </a:ext>
              </a:extLst>
            </p:cNvPr>
            <p:cNvPicPr>
              <a:picLocks noChangeAspect="1"/>
            </p:cNvPicPr>
            <p:nvPr/>
          </p:nvPicPr>
          <p:blipFill rotWithShape="1">
            <a:blip r:embed="rId8" cstate="print">
              <a:biLevel thresh="25000"/>
              <a:extLst>
                <a:ext uri="{BEBA8EAE-BF5A-486C-A8C5-ECC9F3942E4B}">
                  <a14:imgProps xmlns:a14="http://schemas.microsoft.com/office/drawing/2010/main">
                    <a14:imgLayer r:embed="rId9">
                      <a14:imgEffect>
                        <a14:colorTemperature colorTemp="5779"/>
                      </a14:imgEffect>
                      <a14:imgEffect>
                        <a14:saturation sat="374000"/>
                      </a14:imgEffect>
                      <a14:imgEffect>
                        <a14:brightnessContrast bright="100000" contrast="-100000"/>
                      </a14:imgEffect>
                    </a14:imgLayer>
                  </a14:imgProps>
                </a:ext>
                <a:ext uri="{28A0092B-C50C-407E-A947-70E740481C1C}">
                  <a14:useLocalDpi xmlns:a14="http://schemas.microsoft.com/office/drawing/2010/main" val="0"/>
                </a:ext>
              </a:extLst>
            </a:blip>
            <a:srcRect b="13250"/>
            <a:stretch/>
          </p:blipFill>
          <p:spPr>
            <a:xfrm>
              <a:off x="3383484" y="5768953"/>
              <a:ext cx="515965" cy="447597"/>
            </a:xfrm>
            <a:prstGeom prst="rect">
              <a:avLst/>
            </a:prstGeom>
          </p:spPr>
        </p:pic>
        <p:sp>
          <p:nvSpPr>
            <p:cNvPr id="17" name="Textfeld 16">
              <a:extLst>
                <a:ext uri="{FF2B5EF4-FFF2-40B4-BE49-F238E27FC236}">
                  <a16:creationId xmlns:a16="http://schemas.microsoft.com/office/drawing/2014/main" id="{8FAA7158-CB66-4B60-A45F-9A301BFF361B}"/>
                </a:ext>
              </a:extLst>
            </p:cNvPr>
            <p:cNvSpPr txBox="1"/>
            <p:nvPr/>
          </p:nvSpPr>
          <p:spPr>
            <a:xfrm>
              <a:off x="3887997" y="5798985"/>
              <a:ext cx="2619927" cy="369332"/>
            </a:xfrm>
            <a:prstGeom prst="rect">
              <a:avLst/>
            </a:prstGeom>
            <a:noFill/>
          </p:spPr>
          <p:txBody>
            <a:bodyPr wrap="square">
              <a:spAutoFit/>
            </a:bodyPr>
            <a:lstStyle/>
            <a:p>
              <a:r>
                <a:rPr lang="de-DE" b="1" dirty="0">
                  <a:solidFill>
                    <a:schemeClr val="bg1"/>
                  </a:solidFill>
                  <a:hlinkClick r:id="rId10">
                    <a:extLst>
                      <a:ext uri="{A12FA001-AC4F-418D-AE19-62706E023703}">
                        <ahyp:hlinkClr xmlns:ahyp="http://schemas.microsoft.com/office/drawing/2018/hyperlinkcolor" val="tx"/>
                      </a:ext>
                    </a:extLst>
                  </a:hlinkClick>
                </a:rPr>
                <a:t>www.nfdi4cat.org</a:t>
              </a:r>
              <a:endParaRPr lang="de-DE" b="1" dirty="0">
                <a:solidFill>
                  <a:schemeClr val="bg1"/>
                </a:solidFill>
              </a:endParaRPr>
            </a:p>
          </p:txBody>
        </p:sp>
      </p:grpSp>
      <p:sp>
        <p:nvSpPr>
          <p:cNvPr id="28" name="Textfeld 27">
            <a:extLst>
              <a:ext uri="{FF2B5EF4-FFF2-40B4-BE49-F238E27FC236}">
                <a16:creationId xmlns:a16="http://schemas.microsoft.com/office/drawing/2014/main" id="{293F7788-3922-45EA-98A9-75AF1ABF4787}"/>
              </a:ext>
            </a:extLst>
          </p:cNvPr>
          <p:cNvSpPr txBox="1"/>
          <p:nvPr/>
        </p:nvSpPr>
        <p:spPr>
          <a:xfrm>
            <a:off x="1432108" y="4182217"/>
            <a:ext cx="4176464" cy="1077218"/>
          </a:xfrm>
          <a:prstGeom prst="rect">
            <a:avLst/>
          </a:prstGeom>
          <a:solidFill>
            <a:schemeClr val="bg1">
              <a:lumMod val="50000"/>
              <a:alpha val="20000"/>
            </a:schemeClr>
          </a:solidFill>
        </p:spPr>
        <p:txBody>
          <a:bodyPr wrap="square">
            <a:spAutoFit/>
          </a:bodyPr>
          <a:lstStyle>
            <a:defPPr>
              <a:defRPr lang="de-DE"/>
            </a:defPPr>
            <a:lvl1pPr>
              <a:defRPr sz="2400" b="1">
                <a:solidFill>
                  <a:schemeClr val="bg1"/>
                </a:solidFill>
              </a:defRPr>
            </a:lvl1pPr>
          </a:lstStyle>
          <a:p>
            <a:r>
              <a:rPr lang="de-DE" dirty="0"/>
              <a:t>Dr. Sara Espinoza </a:t>
            </a:r>
          </a:p>
          <a:p>
            <a:r>
              <a:rPr lang="en-US" sz="2000" b="0" dirty="0"/>
              <a:t>Phone 	+49-69-7564-354</a:t>
            </a:r>
            <a:endParaRPr lang="de-DE" sz="2000" b="0" dirty="0"/>
          </a:p>
          <a:p>
            <a:r>
              <a:rPr lang="en-US" sz="2000" b="0" dirty="0"/>
              <a:t>Email 	sara.espinoza@dechema.de</a:t>
            </a:r>
            <a:endParaRPr lang="en-GB" sz="2000" b="0" dirty="0"/>
          </a:p>
        </p:txBody>
      </p:sp>
      <p:sp>
        <p:nvSpPr>
          <p:cNvPr id="2" name="Textfeld 1">
            <a:extLst>
              <a:ext uri="{FF2B5EF4-FFF2-40B4-BE49-F238E27FC236}">
                <a16:creationId xmlns:a16="http://schemas.microsoft.com/office/drawing/2014/main" id="{8E961EDF-6BA5-234D-B1D4-7A4C0748EF9E}"/>
              </a:ext>
            </a:extLst>
          </p:cNvPr>
          <p:cNvSpPr txBox="1"/>
          <p:nvPr/>
        </p:nvSpPr>
        <p:spPr>
          <a:xfrm>
            <a:off x="6455308" y="4182217"/>
            <a:ext cx="4176464" cy="1077218"/>
          </a:xfrm>
          <a:prstGeom prst="rect">
            <a:avLst/>
          </a:prstGeom>
          <a:solidFill>
            <a:schemeClr val="bg1">
              <a:lumMod val="50000"/>
              <a:alpha val="20000"/>
            </a:schemeClr>
          </a:solidFill>
        </p:spPr>
        <p:txBody>
          <a:bodyPr wrap="square">
            <a:spAutoFit/>
          </a:bodyPr>
          <a:lstStyle>
            <a:defPPr>
              <a:defRPr lang="de-DE"/>
            </a:defPPr>
            <a:lvl1pPr>
              <a:defRPr sz="2400" b="1">
                <a:solidFill>
                  <a:schemeClr val="bg1"/>
                </a:solidFill>
              </a:defRPr>
            </a:lvl1pPr>
          </a:lstStyle>
          <a:p>
            <a:r>
              <a:rPr lang="de-DE" dirty="0"/>
              <a:t>Melusine Billig</a:t>
            </a:r>
          </a:p>
          <a:p>
            <a:r>
              <a:rPr lang="en-US" sz="2000" b="0" dirty="0"/>
              <a:t>Phone 	+49-69-7564-524</a:t>
            </a:r>
            <a:endParaRPr lang="de-DE" sz="2000" b="0" dirty="0"/>
          </a:p>
          <a:p>
            <a:r>
              <a:rPr lang="en-US" sz="2000" b="0" dirty="0"/>
              <a:t>Email 	melusine.billig@dechema.de</a:t>
            </a:r>
            <a:endParaRPr lang="en-GB" sz="2000" b="0" dirty="0"/>
          </a:p>
        </p:txBody>
      </p:sp>
      <p:grpSp>
        <p:nvGrpSpPr>
          <p:cNvPr id="8" name="Gruppieren 7">
            <a:extLst>
              <a:ext uri="{FF2B5EF4-FFF2-40B4-BE49-F238E27FC236}">
                <a16:creationId xmlns:a16="http://schemas.microsoft.com/office/drawing/2014/main" id="{254AA803-EF62-77E8-FA57-80CA809E1FCC}"/>
              </a:ext>
            </a:extLst>
          </p:cNvPr>
          <p:cNvGrpSpPr/>
          <p:nvPr/>
        </p:nvGrpSpPr>
        <p:grpSpPr>
          <a:xfrm>
            <a:off x="9123251" y="5650636"/>
            <a:ext cx="2909805" cy="428142"/>
            <a:chOff x="5845925" y="6097202"/>
            <a:chExt cx="2909805" cy="428142"/>
          </a:xfrm>
        </p:grpSpPr>
        <p:pic>
          <p:nvPicPr>
            <p:cNvPr id="9" name="Grafik 8">
              <a:extLst>
                <a:ext uri="{FF2B5EF4-FFF2-40B4-BE49-F238E27FC236}">
                  <a16:creationId xmlns:a16="http://schemas.microsoft.com/office/drawing/2014/main" id="{456F37BC-40DF-7FE8-C66B-EE1B6C45DFB9}"/>
                </a:ext>
              </a:extLst>
            </p:cNvPr>
            <p:cNvPicPr>
              <a:picLocks noChangeAspect="1"/>
            </p:cNvPicPr>
            <p:nvPr/>
          </p:nvPicPr>
          <p:blipFill>
            <a:blip r:embed="rId3" cstate="print">
              <a:biLevel thresh="75000"/>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845925" y="6097202"/>
              <a:ext cx="428142" cy="428142"/>
            </a:xfrm>
            <a:prstGeom prst="rect">
              <a:avLst/>
            </a:prstGeom>
          </p:spPr>
        </p:pic>
        <p:sp>
          <p:nvSpPr>
            <p:cNvPr id="10" name="Textfeld 9">
              <a:extLst>
                <a:ext uri="{FF2B5EF4-FFF2-40B4-BE49-F238E27FC236}">
                  <a16:creationId xmlns:a16="http://schemas.microsoft.com/office/drawing/2014/main" id="{2D367622-4DE3-8232-C70F-1517CFB2A6CD}"/>
                </a:ext>
              </a:extLst>
            </p:cNvPr>
            <p:cNvSpPr txBox="1"/>
            <p:nvPr/>
          </p:nvSpPr>
          <p:spPr>
            <a:xfrm>
              <a:off x="6304156" y="6126607"/>
              <a:ext cx="2451574" cy="369332"/>
            </a:xfrm>
            <a:prstGeom prst="rect">
              <a:avLst/>
            </a:prstGeom>
            <a:noFill/>
          </p:spPr>
          <p:txBody>
            <a:bodyPr wrap="square">
              <a:spAutoFit/>
            </a:bodyPr>
            <a:lstStyle/>
            <a:p>
              <a:r>
                <a:rPr lang="de-DE" b="1" dirty="0">
                  <a:solidFill>
                    <a:schemeClr val="bg1"/>
                  </a:solidFill>
                  <a:hlinkClick r:id="rId11">
                    <a:extLst>
                      <a:ext uri="{A12FA001-AC4F-418D-AE19-62706E023703}">
                        <ahyp:hlinkClr xmlns:ahyp="http://schemas.microsoft.com/office/drawing/2018/hyperlinkcolor" val="tx"/>
                      </a:ext>
                    </a:extLst>
                  </a:hlinkClick>
                </a:rPr>
                <a:t>@NFDI4Cat@nfdi.social</a:t>
              </a:r>
              <a:endParaRPr lang="de-DE" b="1" dirty="0">
                <a:solidFill>
                  <a:schemeClr val="bg1"/>
                </a:solidFill>
              </a:endParaRPr>
            </a:p>
          </p:txBody>
        </p:sp>
      </p:grpSp>
      <p:sp>
        <p:nvSpPr>
          <p:cNvPr id="11" name="Rechteck 10">
            <a:extLst>
              <a:ext uri="{FF2B5EF4-FFF2-40B4-BE49-F238E27FC236}">
                <a16:creationId xmlns:a16="http://schemas.microsoft.com/office/drawing/2014/main" id="{162CEBCB-DA2B-5759-E557-7BE045AEDA3C}"/>
              </a:ext>
            </a:extLst>
          </p:cNvPr>
          <p:cNvSpPr/>
          <p:nvPr/>
        </p:nvSpPr>
        <p:spPr>
          <a:xfrm>
            <a:off x="9188879" y="5696217"/>
            <a:ext cx="342198" cy="35315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8" name="Picture 4" descr="mastodon logo PNG, SVG vector">
            <a:extLst>
              <a:ext uri="{FF2B5EF4-FFF2-40B4-BE49-F238E27FC236}">
                <a16:creationId xmlns:a16="http://schemas.microsoft.com/office/drawing/2014/main" id="{830E9A26-C753-3C7F-5086-5B102FB57452}"/>
              </a:ext>
            </a:extLst>
          </p:cNvPr>
          <p:cNvPicPr>
            <a:picLocks noChangeAspect="1" noChangeArrowheads="1"/>
          </p:cNvPicPr>
          <p:nvPr/>
        </p:nvPicPr>
        <p:blipFill>
          <a:blip r:embed="rId12" cstate="print">
            <a:biLevel thresh="25000"/>
            <a:extLst>
              <a:ext uri="{BEBA8EAE-BF5A-486C-A8C5-ECC9F3942E4B}">
                <a14:imgProps xmlns:a14="http://schemas.microsoft.com/office/drawing/2010/main">
                  <a14:imgLayer r:embed="rId13">
                    <a14:imgEffect>
                      <a14:backgroundRemoval t="10000" b="90000" l="10000" r="90000">
                        <a14:foregroundMark x1="32190" y1="37809" x2="34037" y2="66078"/>
                      </a14:backgroundRemoval>
                    </a14:imgEffect>
                  </a14:imgLayer>
                </a14:imgProps>
              </a:ext>
              <a:ext uri="{28A0092B-C50C-407E-A947-70E740481C1C}">
                <a14:useLocalDpi xmlns:a14="http://schemas.microsoft.com/office/drawing/2010/main" val="0"/>
              </a:ext>
            </a:extLst>
          </a:blip>
          <a:srcRect/>
          <a:stretch>
            <a:fillRect/>
          </a:stretch>
        </p:blipFill>
        <p:spPr bwMode="auto">
          <a:xfrm>
            <a:off x="8970067" y="5587522"/>
            <a:ext cx="734509" cy="548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100703"/>
      </p:ext>
    </p:extLst>
  </p:cSld>
  <p:clrMapOvr>
    <a:masterClrMapping/>
  </p:clrMapOvr>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Vortrag_Dechema" id="{F957AC9F-8936-4013-AB8B-813CCF0F5220}" vid="{32758452-37DD-4DFB-BADE-B2062B3AF8FC}"/>
    </a:ext>
  </a:ext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NFDI4Cat_Template</Template>
  <TotalTime>0</TotalTime>
  <Words>1304</Words>
  <Application>Microsoft Office PowerPoint</Application>
  <PresentationFormat>Breitbild</PresentationFormat>
  <Paragraphs>103</Paragraphs>
  <Slides>14</Slides>
  <Notes>2</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14</vt:i4>
      </vt:variant>
    </vt:vector>
  </HeadingPairs>
  <TitlesOfParts>
    <vt:vector size="19" baseType="lpstr">
      <vt:lpstr>Arial</vt:lpstr>
      <vt:lpstr>Calibri</vt:lpstr>
      <vt:lpstr>Wingdings</vt:lpstr>
      <vt:lpstr>Larissa-Design</vt:lpstr>
      <vt:lpstr>Larissa-Design</vt:lpstr>
      <vt:lpstr>PowerPoint-Präsentation</vt:lpstr>
      <vt:lpstr>Kleine Ergebnisdokumentation</vt:lpstr>
      <vt:lpstr>Motivation für NFDI4Cat</vt:lpstr>
      <vt:lpstr>Suche auf der Dechema Website zur  58. Jahrestagung Deutscher Katalytiker</vt:lpstr>
      <vt:lpstr>Interaktiver Graph mit allen erfassten Beiträgen</vt:lpstr>
      <vt:lpstr>Website/Detailierte Dokumentation und Verlinkung aller Beiträge</vt:lpstr>
      <vt:lpstr>Bereitstellung als Durchsuchbares Dokument</vt:lpstr>
      <vt:lpstr>Interesse die Daten einmal selbst zu sichten?</vt:lpstr>
      <vt:lpstr>Daten</vt:lpstr>
      <vt:lpstr>PowerPoint-Präsentation</vt:lpstr>
      <vt:lpstr>PowerPoint-Präsentation</vt:lpstr>
      <vt:lpstr>Technische Hürden</vt:lpstr>
      <vt:lpstr>Technische Hürden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Billig, Melusine</dc:creator>
  <cp:lastModifiedBy>Hendrik Borgelt</cp:lastModifiedBy>
  <cp:revision>56</cp:revision>
  <dcterms:created xsi:type="dcterms:W3CDTF">2025-10-01T06:41:38Z</dcterms:created>
  <dcterms:modified xsi:type="dcterms:W3CDTF">2025-10-29T10:02:44Z</dcterms:modified>
</cp:coreProperties>
</file>